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0" r:id="rId1"/>
  </p:sldMasterIdLst>
  <p:sldIdLst>
    <p:sldId id="281" r:id="rId2"/>
    <p:sldId id="283" r:id="rId3"/>
    <p:sldId id="284" r:id="rId4"/>
    <p:sldId id="285" r:id="rId5"/>
    <p:sldId id="282" r:id="rId6"/>
    <p:sldId id="287" r:id="rId7"/>
    <p:sldId id="292" r:id="rId8"/>
    <p:sldId id="286" r:id="rId9"/>
    <p:sldId id="288" r:id="rId10"/>
    <p:sldId id="289" r:id="rId11"/>
    <p:sldId id="291" r:id="rId12"/>
    <p:sldId id="290" r:id="rId13"/>
    <p:sldId id="257" r:id="rId14"/>
    <p:sldId id="293" r:id="rId15"/>
    <p:sldId id="294" r:id="rId16"/>
    <p:sldId id="295" r:id="rId17"/>
    <p:sldId id="258" r:id="rId18"/>
    <p:sldId id="259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4" d="100"/>
          <a:sy n="54" d="100"/>
        </p:scale>
        <p:origin x="61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 smtClean="0"/>
              <a:t>Зразок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06361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215484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1943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88923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1675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605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26657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450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smtClean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70014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26876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9996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275115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ка назви цита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21449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Істина/хибніст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683236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731163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417548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609600"/>
            <a:ext cx="103632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uk-UA"/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914400" y="1981200"/>
            <a:ext cx="10363200" cy="4114800"/>
          </a:xfrm>
        </p:spPr>
        <p:txBody>
          <a:bodyPr/>
          <a:lstStyle/>
          <a:p>
            <a:pPr lvl="0"/>
            <a:endParaRPr lang="uk-UA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UML. Діаграми прецедентів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A59F80-F48F-4901-9548-E68B005E30C3}" type="slidenum">
              <a:rPr lang="ru-RU"/>
              <a:pPr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96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uk-UA" smtClean="0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787D78-8B73-4B5E-9B49-4BEA9D4AC6EA}" type="datetimeFigureOut">
              <a:rPr lang="uk-UA" smtClean="0"/>
              <a:t>08.03.2023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CCAB382-BA9C-410C-B127-0923C6B224E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2409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1" r:id="rId1"/>
    <p:sldLayoutId id="2147484192" r:id="rId2"/>
    <p:sldLayoutId id="2147484193" r:id="rId3"/>
    <p:sldLayoutId id="2147484194" r:id="rId4"/>
    <p:sldLayoutId id="2147484195" r:id="rId5"/>
    <p:sldLayoutId id="2147484196" r:id="rId6"/>
    <p:sldLayoutId id="2147484197" r:id="rId7"/>
    <p:sldLayoutId id="2147484198" r:id="rId8"/>
    <p:sldLayoutId id="2147484199" r:id="rId9"/>
    <p:sldLayoutId id="2147484200" r:id="rId10"/>
    <p:sldLayoutId id="2147484201" r:id="rId11"/>
    <p:sldLayoutId id="2147484202" r:id="rId12"/>
    <p:sldLayoutId id="2147484203" r:id="rId13"/>
    <p:sldLayoutId id="2147484204" r:id="rId14"/>
    <p:sldLayoutId id="2147484205" r:id="rId15"/>
    <p:sldLayoutId id="2147484206" r:id="rId16"/>
    <p:sldLayoutId id="21474842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mg.org/spec/UML/2.5.1/PDF" TargetMode="External"/><Relationship Id="rId2" Type="http://schemas.openxmlformats.org/officeDocument/2006/relationships/hyperlink" Target="https://www.omg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png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Уніфікована мова моделювання </a:t>
            </a:r>
            <a:r>
              <a:rPr lang="uk-UA" i="1" dirty="0"/>
              <a:t>UML</a:t>
            </a:r>
            <a:r>
              <a:rPr lang="uk-UA" sz="4800" dirty="0"/>
              <a:t> 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381000" algn="just">
              <a:buFontTx/>
              <a:buNone/>
            </a:pPr>
            <a:r>
              <a:rPr lang="uk-UA" sz="2000" b="1" i="1" dirty="0"/>
              <a:t>UML</a:t>
            </a:r>
            <a:r>
              <a:rPr lang="uk-UA" sz="2000" dirty="0"/>
              <a:t> (</a:t>
            </a:r>
            <a:r>
              <a:rPr lang="uk-UA" sz="2000" b="1" i="1" dirty="0" err="1"/>
              <a:t>Unified</a:t>
            </a:r>
            <a:r>
              <a:rPr lang="uk-UA" sz="2000" b="1" i="1" dirty="0"/>
              <a:t> </a:t>
            </a:r>
            <a:r>
              <a:rPr lang="uk-UA" sz="2000" b="1" i="1" dirty="0" err="1"/>
              <a:t>Modeling</a:t>
            </a:r>
            <a:r>
              <a:rPr lang="uk-UA" sz="2000" b="1" i="1" dirty="0"/>
              <a:t> </a:t>
            </a:r>
            <a:r>
              <a:rPr lang="uk-UA" sz="2000" b="1" i="1" dirty="0" err="1"/>
              <a:t>Language</a:t>
            </a:r>
            <a:r>
              <a:rPr lang="uk-UA" sz="2000" dirty="0"/>
              <a:t> – </a:t>
            </a:r>
            <a:r>
              <a:rPr lang="ru-RU" sz="2000" dirty="0"/>
              <a:t>у</a:t>
            </a:r>
            <a:r>
              <a:rPr lang="uk-UA" sz="2000" dirty="0" err="1"/>
              <a:t>ніфікована</a:t>
            </a:r>
            <a:r>
              <a:rPr lang="uk-UA" sz="2000" dirty="0"/>
              <a:t> мова моделювання) – це </a:t>
            </a:r>
            <a:r>
              <a:rPr lang="uk-UA" sz="2000" b="1" dirty="0" smtClean="0"/>
              <a:t>набір</a:t>
            </a:r>
            <a:r>
              <a:rPr lang="uk-UA" sz="2000" dirty="0" smtClean="0"/>
              <a:t> </a:t>
            </a:r>
            <a:r>
              <a:rPr lang="uk-UA" sz="2000" b="1" i="1" dirty="0" smtClean="0"/>
              <a:t>стандартних нотацій </a:t>
            </a:r>
            <a:r>
              <a:rPr lang="uk-UA" sz="2000" b="1" i="1" dirty="0"/>
              <a:t>візуального моделювання</a:t>
            </a:r>
            <a:r>
              <a:rPr lang="uk-UA" sz="2000" dirty="0"/>
              <a:t> програмних систем (але не тільки програмних систем!).</a:t>
            </a:r>
          </a:p>
          <a:p>
            <a:pPr marL="0" indent="381000" algn="just">
              <a:buFontTx/>
              <a:buNone/>
            </a:pPr>
            <a:r>
              <a:rPr lang="uk-UA" sz="2000" dirty="0"/>
              <a:t>Прийнята консорціумом </a:t>
            </a:r>
            <a:r>
              <a:rPr lang="uk-UA" sz="2000" i="1" dirty="0" err="1"/>
              <a:t>Object</a:t>
            </a:r>
            <a:r>
              <a:rPr lang="uk-UA" sz="2000" i="1" dirty="0"/>
              <a:t> </a:t>
            </a:r>
            <a:r>
              <a:rPr lang="uk-UA" sz="2000" i="1" dirty="0" err="1"/>
              <a:t>Managing</a:t>
            </a:r>
            <a:r>
              <a:rPr lang="uk-UA" sz="2000" i="1" dirty="0"/>
              <a:t> </a:t>
            </a:r>
            <a:r>
              <a:rPr lang="uk-UA" sz="2000" i="1" dirty="0" err="1"/>
              <a:t>Group</a:t>
            </a:r>
            <a:r>
              <a:rPr lang="uk-UA" sz="2000" dirty="0"/>
              <a:t> (</a:t>
            </a:r>
            <a:r>
              <a:rPr lang="uk-UA" sz="2000" i="1" dirty="0"/>
              <a:t>OMG</a:t>
            </a:r>
            <a:r>
              <a:rPr lang="uk-UA" sz="2000" dirty="0"/>
              <a:t>) восени 1997р.</a:t>
            </a:r>
          </a:p>
          <a:p>
            <a:pPr marL="0" indent="381000" algn="just">
              <a:buFontTx/>
              <a:buNone/>
            </a:pPr>
            <a:r>
              <a:rPr lang="uk-UA" sz="2000" i="1" dirty="0"/>
              <a:t>UML</a:t>
            </a:r>
            <a:r>
              <a:rPr lang="uk-UA" sz="2000" dirty="0"/>
              <a:t> – уніфікована мова: </a:t>
            </a:r>
          </a:p>
          <a:p>
            <a:pPr marL="857250" lvl="1" algn="just">
              <a:lnSpc>
                <a:spcPct val="90000"/>
              </a:lnSpc>
            </a:pPr>
            <a:r>
              <a:rPr lang="uk-UA" sz="2000" dirty="0"/>
              <a:t> не залежить від методології, що використовується при розробці проекту;</a:t>
            </a:r>
          </a:p>
          <a:p>
            <a:pPr marL="857250" lvl="1" algn="just">
              <a:lnSpc>
                <a:spcPct val="90000"/>
              </a:lnSpc>
            </a:pPr>
            <a:r>
              <a:rPr lang="uk-UA" sz="2000" dirty="0"/>
              <a:t> може підтримувати будь-яку об'єктно-орієнтовану мову програмування. </a:t>
            </a:r>
          </a:p>
          <a:p>
            <a:pPr marL="0" indent="381000" algn="just">
              <a:buFontTx/>
              <a:buNone/>
            </a:pPr>
            <a:r>
              <a:rPr lang="uk-UA" sz="2000" dirty="0"/>
              <a:t>На </a:t>
            </a:r>
            <a:r>
              <a:rPr lang="uk-UA" sz="2000" i="1" dirty="0"/>
              <a:t>UML</a:t>
            </a:r>
            <a:r>
              <a:rPr lang="uk-UA" sz="2000" dirty="0"/>
              <a:t> можна змістовно описувати класи, об'єкти й компоненти з різних предметних областей, що можуть суттєво відрізнятись одна від одної. </a:t>
            </a:r>
          </a:p>
        </p:txBody>
      </p:sp>
    </p:spTree>
    <p:extLst>
      <p:ext uri="{BB962C8B-B14F-4D97-AF65-F5344CB8AC3E}">
        <p14:creationId xmlns:p14="http://schemas.microsoft.com/office/powerpoint/2010/main" val="203517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Передумови виникнення </a:t>
            </a:r>
            <a:r>
              <a:rPr lang="uk-UA" i="1" dirty="0"/>
              <a:t>UML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81000" algn="just">
              <a:lnSpc>
                <a:spcPct val="140000"/>
              </a:lnSpc>
              <a:buFontTx/>
              <a:buNone/>
            </a:pPr>
            <a:r>
              <a:rPr lang="uk-UA" dirty="0"/>
              <a:t>У середині 90-х існувало більше </a:t>
            </a:r>
            <a:r>
              <a:rPr lang="uk-UA" b="1" i="1" dirty="0"/>
              <a:t>50 </a:t>
            </a:r>
            <a:r>
              <a:rPr lang="uk-UA" dirty="0"/>
              <a:t>різних</a:t>
            </a:r>
            <a:r>
              <a:rPr lang="uk-UA" b="1" i="1" dirty="0"/>
              <a:t> об'єктно-орієнтованих методів чи мов</a:t>
            </a:r>
            <a:r>
              <a:rPr lang="uk-UA" dirty="0"/>
              <a:t> </a:t>
            </a:r>
            <a:r>
              <a:rPr lang="uk-UA" b="1" i="1" dirty="0"/>
              <a:t>моделювання</a:t>
            </a:r>
            <a:r>
              <a:rPr lang="uk-UA" dirty="0"/>
              <a:t>.</a:t>
            </a:r>
          </a:p>
          <a:p>
            <a:pPr marL="0" indent="381000" algn="just">
              <a:lnSpc>
                <a:spcPct val="140000"/>
              </a:lnSpc>
              <a:buFontTx/>
              <a:buNone/>
            </a:pPr>
            <a:r>
              <a:rPr lang="uk-UA" dirty="0"/>
              <a:t>У цей же період часу оновлюються версії таких досить розповсюджених методів як: Booch'93, OMT-2 (</a:t>
            </a:r>
            <a:r>
              <a:rPr lang="uk-UA" dirty="0" err="1"/>
              <a:t>Object</a:t>
            </a:r>
            <a:r>
              <a:rPr lang="uk-UA" dirty="0"/>
              <a:t> </a:t>
            </a:r>
            <a:r>
              <a:rPr lang="uk-UA" dirty="0" err="1"/>
              <a:t>Modelling</a:t>
            </a:r>
            <a:r>
              <a:rPr lang="uk-UA" dirty="0"/>
              <a:t> </a:t>
            </a:r>
            <a:r>
              <a:rPr lang="uk-UA" dirty="0" err="1"/>
              <a:t>Technique</a:t>
            </a:r>
            <a:r>
              <a:rPr lang="uk-UA" dirty="0"/>
              <a:t>), </a:t>
            </a:r>
            <a:r>
              <a:rPr lang="uk-UA" dirty="0" err="1"/>
              <a:t>Fusion</a:t>
            </a:r>
            <a:r>
              <a:rPr lang="uk-UA" dirty="0"/>
              <a:t>, OOSE (</a:t>
            </a:r>
            <a:r>
              <a:rPr lang="uk-UA" dirty="0" err="1"/>
              <a:t>Object-Oriented</a:t>
            </a:r>
            <a:r>
              <a:rPr lang="uk-UA" dirty="0"/>
              <a:t> </a:t>
            </a: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Engineering</a:t>
            </a:r>
            <a:r>
              <a:rPr lang="uk-UA" dirty="0"/>
              <a:t>).</a:t>
            </a:r>
          </a:p>
          <a:p>
            <a:pPr marL="0" indent="381000" algn="just">
              <a:lnSpc>
                <a:spcPct val="140000"/>
              </a:lnSpc>
              <a:buFontTx/>
              <a:buNone/>
            </a:pPr>
            <a:r>
              <a:rPr lang="uk-UA" dirty="0"/>
              <a:t>І розроблювачів ПС, і замовників охоплювало занепокоєння при виборі метода проектування ПС, кожен із яких до того ж, як правило, спирався на власну нотацію. </a:t>
            </a:r>
          </a:p>
          <a:p>
            <a:pPr marL="0" indent="381000" algn="just">
              <a:lnSpc>
                <a:spcPct val="140000"/>
              </a:lnSpc>
              <a:buFontTx/>
              <a:buNone/>
            </a:pPr>
            <a:r>
              <a:rPr lang="uk-UA" dirty="0"/>
              <a:t>Тому виникла проблема в </a:t>
            </a:r>
            <a:r>
              <a:rPr lang="uk-UA" b="1" i="1" dirty="0"/>
              <a:t>стандартизації й уніфікації</a:t>
            </a:r>
            <a:r>
              <a:rPr lang="uk-UA" dirty="0"/>
              <a:t> підходів до моделювання. 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0340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Виникнення </a:t>
            </a:r>
            <a:r>
              <a:rPr lang="uk-UA" i="1" dirty="0"/>
              <a:t>UML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dirty="0"/>
              <a:t>Початком розробки </a:t>
            </a:r>
            <a:r>
              <a:rPr lang="uk-UA" i="1" dirty="0"/>
              <a:t>UML</a:t>
            </a:r>
            <a:r>
              <a:rPr lang="uk-UA" dirty="0"/>
              <a:t> вважається жовтень 1994 року, коли у </a:t>
            </a:r>
            <a:r>
              <a:rPr lang="uk-UA" i="1" dirty="0" err="1"/>
              <a:t>Rational</a:t>
            </a:r>
            <a:r>
              <a:rPr lang="uk-UA" i="1" dirty="0"/>
              <a:t> </a:t>
            </a:r>
            <a:r>
              <a:rPr lang="uk-UA" i="1" dirty="0" err="1"/>
              <a:t>Software</a:t>
            </a:r>
            <a:r>
              <a:rPr lang="uk-UA" i="1" dirty="0"/>
              <a:t> </a:t>
            </a:r>
            <a:r>
              <a:rPr lang="uk-UA" i="1" dirty="0" err="1"/>
              <a:t>Corporation</a:t>
            </a:r>
            <a:r>
              <a:rPr lang="uk-UA" dirty="0"/>
              <a:t> силами </a:t>
            </a:r>
            <a:r>
              <a:rPr lang="uk-UA" b="1" i="1" dirty="0" err="1"/>
              <a:t>Греді</a:t>
            </a:r>
            <a:r>
              <a:rPr lang="uk-UA" b="1" i="1" dirty="0"/>
              <a:t> Буча</a:t>
            </a:r>
            <a:r>
              <a:rPr lang="uk-UA" dirty="0"/>
              <a:t> (</a:t>
            </a:r>
            <a:r>
              <a:rPr lang="uk-UA" b="1" i="1" dirty="0" err="1"/>
              <a:t>Grady</a:t>
            </a:r>
            <a:r>
              <a:rPr lang="uk-UA" b="1" i="1" dirty="0"/>
              <a:t> </a:t>
            </a:r>
            <a:r>
              <a:rPr lang="uk-UA" b="1" i="1" dirty="0" err="1"/>
              <a:t>Booch</a:t>
            </a:r>
            <a:r>
              <a:rPr lang="uk-UA" dirty="0"/>
              <a:t>) і </a:t>
            </a:r>
            <a:r>
              <a:rPr lang="uk-UA" b="1" i="1" dirty="0" err="1"/>
              <a:t>Джима</a:t>
            </a:r>
            <a:r>
              <a:rPr lang="uk-UA" b="1" i="1" dirty="0"/>
              <a:t> </a:t>
            </a:r>
            <a:r>
              <a:rPr lang="uk-UA" b="1" i="1" dirty="0" err="1"/>
              <a:t>Рамбо</a:t>
            </a:r>
            <a:r>
              <a:rPr lang="uk-UA" dirty="0"/>
              <a:t> (</a:t>
            </a:r>
            <a:r>
              <a:rPr lang="uk-UA" b="1" i="1" dirty="0" err="1"/>
              <a:t>Jim</a:t>
            </a:r>
            <a:r>
              <a:rPr lang="uk-UA" b="1" i="1" dirty="0"/>
              <a:t> </a:t>
            </a:r>
            <a:r>
              <a:rPr lang="uk-UA" b="1" i="1" dirty="0" err="1"/>
              <a:t>Rumbaugh</a:t>
            </a:r>
            <a:r>
              <a:rPr lang="uk-UA" dirty="0"/>
              <a:t>) була започаткована робота з уніфікації їх власних методів Booch'93 та OMT (</a:t>
            </a:r>
            <a:r>
              <a:rPr lang="uk-UA" dirty="0" err="1"/>
              <a:t>Object</a:t>
            </a:r>
            <a:r>
              <a:rPr lang="uk-UA" dirty="0"/>
              <a:t> </a:t>
            </a:r>
            <a:r>
              <a:rPr lang="uk-UA" dirty="0" err="1"/>
              <a:t>Modelling</a:t>
            </a:r>
            <a:r>
              <a:rPr lang="uk-UA" dirty="0"/>
              <a:t> </a:t>
            </a:r>
            <a:r>
              <a:rPr lang="uk-UA" dirty="0" err="1"/>
              <a:t>Technique</a:t>
            </a:r>
            <a:r>
              <a:rPr lang="uk-UA" dirty="0"/>
              <a:t>). Перша версія Уніфікованого Метода (</a:t>
            </a:r>
            <a:r>
              <a:rPr lang="uk-UA" dirty="0" err="1"/>
              <a:t>Unified</a:t>
            </a:r>
            <a:r>
              <a:rPr lang="uk-UA" dirty="0"/>
              <a:t> </a:t>
            </a:r>
            <a:r>
              <a:rPr lang="uk-UA" dirty="0" err="1"/>
              <a:t>Method</a:t>
            </a:r>
            <a:r>
              <a:rPr lang="uk-UA" dirty="0"/>
              <a:t> 0.8) була опублікована в жовтні 1995.</a:t>
            </a:r>
          </a:p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dirty="0"/>
              <a:t>Трохи згодом, у тому ж 1995 році, до роботи приєднався </a:t>
            </a:r>
            <a:r>
              <a:rPr lang="uk-UA" b="1" i="1" dirty="0" err="1"/>
              <a:t>Айвер</a:t>
            </a:r>
            <a:r>
              <a:rPr lang="uk-UA" b="1" i="1" dirty="0"/>
              <a:t> Якобсон</a:t>
            </a:r>
            <a:r>
              <a:rPr lang="uk-UA" dirty="0"/>
              <a:t> (</a:t>
            </a:r>
            <a:r>
              <a:rPr lang="uk-UA" b="1" i="1" dirty="0" err="1"/>
              <a:t>Ivar</a:t>
            </a:r>
            <a:r>
              <a:rPr lang="uk-UA" b="1" i="1" dirty="0"/>
              <a:t> </a:t>
            </a:r>
            <a:r>
              <a:rPr lang="uk-UA" b="1" i="1" dirty="0" err="1"/>
              <a:t>Jacobson</a:t>
            </a:r>
            <a:r>
              <a:rPr lang="uk-UA" dirty="0"/>
              <a:t>), залучаючи до процесу інтеграції й уніфікації ще один метод –  власний метод </a:t>
            </a:r>
            <a:r>
              <a:rPr lang="uk-UA" i="1" dirty="0"/>
              <a:t>OOSE </a:t>
            </a:r>
            <a:r>
              <a:rPr lang="uk-UA" dirty="0"/>
              <a:t>(</a:t>
            </a:r>
            <a:r>
              <a:rPr lang="uk-UA" dirty="0" err="1"/>
              <a:t>Object-Oriented</a:t>
            </a:r>
            <a:r>
              <a:rPr lang="uk-UA" dirty="0"/>
              <a:t> </a:t>
            </a:r>
            <a:r>
              <a:rPr lang="uk-UA" dirty="0" err="1"/>
              <a:t>Software</a:t>
            </a:r>
            <a:r>
              <a:rPr lang="uk-UA" dirty="0"/>
              <a:t> </a:t>
            </a:r>
            <a:r>
              <a:rPr lang="uk-UA" dirty="0" err="1"/>
              <a:t>Engineering</a:t>
            </a:r>
            <a:r>
              <a:rPr lang="uk-UA" dirty="0"/>
              <a:t>).</a:t>
            </a:r>
          </a:p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dirty="0"/>
              <a:t>Таким чином, на першому концептуальному етапі </a:t>
            </a:r>
            <a:r>
              <a:rPr lang="uk-UA" i="1" dirty="0"/>
              <a:t>UML</a:t>
            </a:r>
            <a:r>
              <a:rPr lang="uk-UA" dirty="0"/>
              <a:t> отримав трьох авторів: Буча, </a:t>
            </a:r>
            <a:r>
              <a:rPr lang="uk-UA" dirty="0" err="1"/>
              <a:t>Рамбо</a:t>
            </a:r>
            <a:r>
              <a:rPr lang="uk-UA" dirty="0"/>
              <a:t> і Якобсона, кожен із яких був ідеологом свого власного об'єктно-орієнтованого метода візуального моделювання</a:t>
            </a:r>
            <a:r>
              <a:rPr lang="uk-UA" dirty="0" smtClean="0"/>
              <a:t>.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95200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Виникнення </a:t>
            </a:r>
            <a:r>
              <a:rPr lang="uk-UA" i="1" dirty="0"/>
              <a:t>UML</a:t>
            </a:r>
            <a:endParaRPr lang="uk-UA" dirty="0"/>
          </a:p>
        </p:txBody>
      </p:sp>
      <p:pic>
        <p:nvPicPr>
          <p:cNvPr id="4" name="Picture 1030" descr="480px-OO-histori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1270000"/>
            <a:ext cx="7510388" cy="53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301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785257"/>
          </a:xfrm>
        </p:spPr>
        <p:txBody>
          <a:bodyPr>
            <a:normAutofit/>
          </a:bodyPr>
          <a:lstStyle/>
          <a:p>
            <a:r>
              <a:rPr lang="uk-UA" dirty="0" err="1"/>
              <a:t>Object</a:t>
            </a:r>
            <a:r>
              <a:rPr lang="uk-UA" dirty="0"/>
              <a:t> </a:t>
            </a:r>
            <a:r>
              <a:rPr lang="uk-UA" dirty="0" smtClean="0"/>
              <a:t/>
            </a:r>
            <a:br>
              <a:rPr lang="uk-UA" dirty="0" smtClean="0"/>
            </a:br>
            <a:r>
              <a:rPr lang="uk-UA" dirty="0" err="1" smtClean="0"/>
              <a:t>Management</a:t>
            </a:r>
            <a:r>
              <a:rPr lang="uk-UA" dirty="0" smtClean="0"/>
              <a:t> </a:t>
            </a:r>
            <a:br>
              <a:rPr lang="uk-UA" dirty="0" smtClean="0"/>
            </a:br>
            <a:r>
              <a:rPr lang="uk-UA" dirty="0" err="1" smtClean="0"/>
              <a:t>Group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2632303"/>
            <a:ext cx="8698895" cy="4225697"/>
          </a:xfrm>
        </p:spPr>
        <p:txBody>
          <a:bodyPr/>
          <a:lstStyle/>
          <a:p>
            <a:pPr marL="0" indent="444500" algn="just">
              <a:lnSpc>
                <a:spcPct val="80000"/>
              </a:lnSpc>
              <a:buFontTx/>
              <a:buNone/>
            </a:pPr>
            <a:r>
              <a:rPr lang="ru-RU" b="1" dirty="0" err="1"/>
              <a:t>Object</a:t>
            </a:r>
            <a:r>
              <a:rPr lang="ru-RU" b="1" dirty="0"/>
              <a:t> </a:t>
            </a:r>
            <a:r>
              <a:rPr lang="ru-RU" b="1" dirty="0" err="1"/>
              <a:t>Management</a:t>
            </a:r>
            <a:r>
              <a:rPr lang="ru-RU" b="1" dirty="0"/>
              <a:t> </a:t>
            </a:r>
            <a:r>
              <a:rPr lang="ru-RU" b="1" dirty="0" err="1"/>
              <a:t>Group</a:t>
            </a:r>
            <a:r>
              <a:rPr lang="ru-RU" b="1" dirty="0"/>
              <a:t> (OMG)</a:t>
            </a:r>
            <a:r>
              <a:rPr lang="ru-RU" dirty="0"/>
              <a:t> 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https://www.omg.org/</a:t>
            </a:r>
            <a:r>
              <a:rPr lang="en-US" dirty="0"/>
              <a:t>)</a:t>
            </a:r>
            <a:r>
              <a:rPr lang="ru-RU" dirty="0" smtClean="0"/>
              <a:t>— </a:t>
            </a:r>
            <a:r>
              <a:rPr lang="ru-RU" dirty="0" err="1"/>
              <a:t>некомерційна</a:t>
            </a:r>
            <a:r>
              <a:rPr lang="ru-RU" dirty="0"/>
              <a:t> </a:t>
            </a:r>
            <a:r>
              <a:rPr lang="ru-RU" dirty="0" err="1"/>
              <a:t>міжнародна</a:t>
            </a:r>
            <a:r>
              <a:rPr lang="ru-RU" dirty="0"/>
              <a:t> </a:t>
            </a:r>
            <a:r>
              <a:rPr lang="ru-RU" dirty="0" err="1"/>
              <a:t>організація</a:t>
            </a:r>
            <a:r>
              <a:rPr lang="ru-RU" dirty="0"/>
              <a:t> у </a:t>
            </a:r>
            <a:r>
              <a:rPr lang="ru-RU" dirty="0" err="1"/>
              <a:t>формі</a:t>
            </a:r>
            <a:r>
              <a:rPr lang="ru-RU" dirty="0"/>
              <a:t> </a:t>
            </a:r>
            <a:r>
              <a:rPr lang="ru-RU" dirty="0" err="1"/>
              <a:t>консорціуму</a:t>
            </a:r>
            <a:r>
              <a:rPr lang="ru-RU" dirty="0"/>
              <a:t>, створена 1989 року. </a:t>
            </a:r>
          </a:p>
          <a:p>
            <a:pPr marL="0" indent="444500" algn="just">
              <a:lnSpc>
                <a:spcPct val="80000"/>
              </a:lnSpc>
              <a:buFontTx/>
              <a:buNone/>
            </a:pPr>
            <a:r>
              <a:rPr lang="ru-RU" dirty="0" err="1"/>
              <a:t>Відповідає</a:t>
            </a:r>
            <a:r>
              <a:rPr lang="ru-RU" dirty="0"/>
              <a:t> за </a:t>
            </a:r>
            <a:r>
              <a:rPr lang="ru-RU" dirty="0" err="1"/>
              <a:t>розробку</a:t>
            </a:r>
            <a:r>
              <a:rPr lang="ru-RU" dirty="0"/>
              <a:t> та </a:t>
            </a:r>
            <a:r>
              <a:rPr lang="ru-RU" dirty="0" err="1"/>
              <a:t>затвердження</a:t>
            </a:r>
            <a:r>
              <a:rPr lang="ru-RU" dirty="0"/>
              <a:t> </a:t>
            </a:r>
            <a:r>
              <a:rPr lang="ru-RU" dirty="0" err="1"/>
              <a:t>незалежних</a:t>
            </a:r>
            <a:r>
              <a:rPr lang="ru-RU" dirty="0"/>
              <a:t> ІТ-</a:t>
            </a:r>
            <a:r>
              <a:rPr lang="ru-RU" dirty="0" err="1"/>
              <a:t>стандартів</a:t>
            </a:r>
            <a:r>
              <a:rPr lang="ru-RU" dirty="0"/>
              <a:t> </a:t>
            </a:r>
            <a:r>
              <a:rPr lang="ru-RU" dirty="0" err="1"/>
              <a:t>об'єктно-орієнтованого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. </a:t>
            </a:r>
          </a:p>
          <a:p>
            <a:pPr marL="0" indent="444500" algn="just">
              <a:lnSpc>
                <a:spcPct val="80000"/>
              </a:lnSpc>
              <a:buFontTx/>
              <a:buNone/>
            </a:pPr>
            <a:r>
              <a:rPr lang="ru-RU" dirty="0" err="1"/>
              <a:t>Серед</a:t>
            </a:r>
            <a:r>
              <a:rPr lang="ru-RU" dirty="0"/>
              <a:t> 11 </a:t>
            </a:r>
            <a:r>
              <a:rPr lang="ru-RU" dirty="0" err="1"/>
              <a:t>засновників</a:t>
            </a:r>
            <a:r>
              <a:rPr lang="ru-RU" dirty="0"/>
              <a:t> OMG </a:t>
            </a:r>
            <a:r>
              <a:rPr lang="ru-RU" dirty="0" err="1"/>
              <a:t>були</a:t>
            </a:r>
            <a:r>
              <a:rPr lang="ru-RU" dirty="0"/>
              <a:t> IBM, </a:t>
            </a:r>
            <a:r>
              <a:rPr lang="ru-RU" dirty="0" err="1"/>
              <a:t>Apple</a:t>
            </a:r>
            <a:r>
              <a:rPr lang="ru-RU" dirty="0"/>
              <a:t> та </a:t>
            </a:r>
            <a:r>
              <a:rPr lang="ru-RU" dirty="0" err="1"/>
              <a:t>Sun</a:t>
            </a:r>
            <a:r>
              <a:rPr lang="ru-RU" dirty="0"/>
              <a:t>. </a:t>
            </a:r>
            <a:r>
              <a:rPr lang="ru-RU" dirty="0" err="1"/>
              <a:t>Сьогодні</a:t>
            </a:r>
            <a:r>
              <a:rPr lang="ru-RU" dirty="0"/>
              <a:t> нал</a:t>
            </a:r>
            <a:r>
              <a:rPr lang="uk-UA" dirty="0"/>
              <a:t>і</a:t>
            </a:r>
            <a:r>
              <a:rPr lang="ru-RU" dirty="0" err="1"/>
              <a:t>чує</a:t>
            </a:r>
            <a:r>
              <a:rPr lang="ru-RU" dirty="0"/>
              <a:t> </a:t>
            </a:r>
            <a:r>
              <a:rPr lang="ru-RU" dirty="0" err="1"/>
              <a:t>понад</a:t>
            </a:r>
            <a:r>
              <a:rPr lang="ru-RU" dirty="0"/>
              <a:t> 800 </a:t>
            </a:r>
            <a:r>
              <a:rPr lang="ru-RU" dirty="0" err="1"/>
              <a:t>учасників</a:t>
            </a:r>
            <a:r>
              <a:rPr lang="ru-RU" dirty="0"/>
              <a:t> </a:t>
            </a:r>
            <a:r>
              <a:rPr lang="ru-RU" dirty="0" err="1"/>
              <a:t>провідних</a:t>
            </a:r>
            <a:r>
              <a:rPr lang="ru-RU" dirty="0"/>
              <a:t> </a:t>
            </a:r>
            <a:r>
              <a:rPr lang="ru-RU" dirty="0" err="1"/>
              <a:t>світових</a:t>
            </a:r>
            <a:r>
              <a:rPr lang="ru-RU" dirty="0"/>
              <a:t> </a:t>
            </a:r>
            <a:r>
              <a:rPr lang="ru-RU" dirty="0" err="1"/>
              <a:t>компаній</a:t>
            </a:r>
            <a:r>
              <a:rPr lang="ru-RU" dirty="0"/>
              <a:t>, тому </a:t>
            </a:r>
            <a:r>
              <a:rPr lang="ru-RU" dirty="0" err="1"/>
              <a:t>стандарти</a:t>
            </a:r>
            <a:r>
              <a:rPr lang="ru-RU" dirty="0"/>
              <a:t> </a:t>
            </a:r>
            <a:r>
              <a:rPr lang="ru-RU" dirty="0" err="1"/>
              <a:t>розроблені</a:t>
            </a:r>
            <a:r>
              <a:rPr lang="ru-RU" dirty="0"/>
              <a:t> нею є </a:t>
            </a:r>
            <a:r>
              <a:rPr lang="ru-RU" dirty="0" err="1"/>
              <a:t>міжнародно</a:t>
            </a:r>
            <a:r>
              <a:rPr lang="ru-RU" dirty="0"/>
              <a:t> </a:t>
            </a:r>
            <a:r>
              <a:rPr lang="ru-RU" dirty="0" err="1"/>
              <a:t>визнаними</a:t>
            </a:r>
            <a:r>
              <a:rPr lang="ru-RU" dirty="0"/>
              <a:t>.</a:t>
            </a:r>
          </a:p>
          <a:p>
            <a:pPr marL="0" indent="444500" algn="just">
              <a:lnSpc>
                <a:spcPct val="80000"/>
              </a:lnSpc>
              <a:buFontTx/>
              <a:buNone/>
            </a:pPr>
            <a:r>
              <a:rPr lang="ru-RU" dirty="0" err="1"/>
              <a:t>Найвідомішими</a:t>
            </a:r>
            <a:r>
              <a:rPr lang="ru-RU" dirty="0"/>
              <a:t> </a:t>
            </a:r>
            <a:r>
              <a:rPr lang="ru-RU" dirty="0" err="1"/>
              <a:t>розробками</a:t>
            </a:r>
            <a:r>
              <a:rPr lang="ru-RU" dirty="0"/>
              <a:t> OMG стали:</a:t>
            </a:r>
          </a:p>
          <a:p>
            <a:pPr marL="0" indent="444500" algn="just">
              <a:lnSpc>
                <a:spcPct val="80000"/>
              </a:lnSpc>
            </a:pPr>
            <a:r>
              <a:rPr lang="ru-RU" b="1" dirty="0"/>
              <a:t>CORBA</a:t>
            </a:r>
            <a:r>
              <a:rPr lang="ru-RU" dirty="0"/>
              <a:t> (англ. </a:t>
            </a:r>
            <a:r>
              <a:rPr lang="uk-UA" dirty="0" err="1"/>
              <a:t>Common</a:t>
            </a:r>
            <a:r>
              <a:rPr lang="uk-UA" dirty="0"/>
              <a:t> </a:t>
            </a:r>
            <a:r>
              <a:rPr lang="uk-UA" dirty="0" err="1"/>
              <a:t>Object</a:t>
            </a:r>
            <a:r>
              <a:rPr lang="uk-UA" dirty="0"/>
              <a:t> </a:t>
            </a:r>
            <a:r>
              <a:rPr lang="uk-UA" dirty="0" err="1"/>
              <a:t>Request</a:t>
            </a:r>
            <a:r>
              <a:rPr lang="uk-UA" dirty="0"/>
              <a:t> </a:t>
            </a:r>
            <a:r>
              <a:rPr lang="uk-UA" dirty="0" err="1"/>
              <a:t>Broker</a:t>
            </a:r>
            <a:r>
              <a:rPr lang="uk-UA" dirty="0"/>
              <a:t> </a:t>
            </a:r>
            <a:r>
              <a:rPr lang="uk-UA" dirty="0" err="1"/>
              <a:t>Architecture</a:t>
            </a:r>
            <a:r>
              <a:rPr lang="uk-UA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 </a:t>
            </a:r>
            <a:r>
              <a:rPr lang="ru-RU" dirty="0" err="1"/>
              <a:t>посередника</a:t>
            </a:r>
            <a:r>
              <a:rPr lang="ru-RU" dirty="0"/>
              <a:t> для </a:t>
            </a:r>
            <a:r>
              <a:rPr lang="ru-RU" dirty="0" err="1"/>
              <a:t>загального</a:t>
            </a:r>
            <a:r>
              <a:rPr lang="ru-RU" dirty="0"/>
              <a:t> </a:t>
            </a:r>
            <a:r>
              <a:rPr lang="ru-RU" dirty="0" err="1"/>
              <a:t>запиту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</a:p>
          <a:p>
            <a:pPr marL="0" indent="444500" algn="just">
              <a:lnSpc>
                <a:spcPct val="80000"/>
              </a:lnSpc>
            </a:pPr>
            <a:r>
              <a:rPr lang="ru-RU" b="1" dirty="0"/>
              <a:t>UML </a:t>
            </a:r>
            <a:r>
              <a:rPr lang="ru-RU" dirty="0"/>
              <a:t>(англ. </a:t>
            </a:r>
            <a:r>
              <a:rPr lang="uk-UA" dirty="0" err="1"/>
              <a:t>Unified</a:t>
            </a:r>
            <a:r>
              <a:rPr lang="uk-UA" dirty="0"/>
              <a:t> </a:t>
            </a:r>
            <a:r>
              <a:rPr lang="uk-UA" dirty="0" err="1"/>
              <a:t>Modeling</a:t>
            </a:r>
            <a:r>
              <a:rPr lang="uk-UA" dirty="0"/>
              <a:t> </a:t>
            </a:r>
            <a:r>
              <a:rPr lang="uk-UA" dirty="0" err="1"/>
              <a:t>Language</a:t>
            </a:r>
            <a:r>
              <a:rPr lang="uk-UA" dirty="0"/>
              <a:t> </a:t>
            </a:r>
            <a:r>
              <a:rPr lang="ru-RU" dirty="0" err="1"/>
              <a:t>узагальнена</a:t>
            </a:r>
            <a:r>
              <a:rPr lang="ru-RU" dirty="0"/>
              <a:t> </a:t>
            </a:r>
            <a:r>
              <a:rPr lang="ru-RU" dirty="0" err="1"/>
              <a:t>мова</a:t>
            </a:r>
            <a:r>
              <a:rPr lang="ru-RU" dirty="0"/>
              <a:t> </a:t>
            </a:r>
            <a:r>
              <a:rPr lang="ru-RU" dirty="0" err="1"/>
              <a:t>моделювання</a:t>
            </a:r>
            <a:r>
              <a:rPr lang="ru-RU" dirty="0"/>
              <a:t>) — стандартизована </a:t>
            </a:r>
            <a:r>
              <a:rPr lang="ru-RU" dirty="0" err="1"/>
              <a:t>мова</a:t>
            </a:r>
            <a:r>
              <a:rPr lang="ru-RU" dirty="0"/>
              <a:t> </a:t>
            </a:r>
            <a:r>
              <a:rPr lang="ru-RU" dirty="0" err="1"/>
              <a:t>моделювання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моделювати</a:t>
            </a:r>
            <a:r>
              <a:rPr lang="ru-RU" dirty="0"/>
              <a:t> та </a:t>
            </a:r>
            <a:r>
              <a:rPr lang="ru-RU" dirty="0" err="1"/>
              <a:t>документувати</a:t>
            </a:r>
            <a:r>
              <a:rPr lang="ru-RU" dirty="0"/>
              <a:t> </a:t>
            </a:r>
            <a:r>
              <a:rPr lang="ru-RU" dirty="0" err="1"/>
              <a:t>об'єктноорієнтовані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/>
              <a:t>нормований</a:t>
            </a:r>
            <a:r>
              <a:rPr lang="ru-RU" dirty="0"/>
              <a:t> </a:t>
            </a:r>
            <a:r>
              <a:rPr lang="ru-RU" dirty="0" err="1"/>
              <a:t>запис</a:t>
            </a:r>
            <a:r>
              <a:rPr lang="ru-RU" dirty="0"/>
              <a:t> (синтаксис</a:t>
            </a:r>
            <a:r>
              <a:rPr lang="ru-RU" dirty="0" smtClean="0"/>
              <a:t>). Актуальна </a:t>
            </a:r>
            <a:r>
              <a:rPr lang="ru-RU" dirty="0" err="1" smtClean="0"/>
              <a:t>версія</a:t>
            </a:r>
            <a:r>
              <a:rPr lang="ru-RU" dirty="0" smtClean="0"/>
              <a:t> </a:t>
            </a:r>
            <a:r>
              <a:rPr lang="ru-RU" dirty="0" err="1" smtClean="0"/>
              <a:t>специфікації</a:t>
            </a:r>
            <a:r>
              <a:rPr lang="ru-RU" dirty="0" smtClean="0"/>
              <a:t> </a:t>
            </a:r>
            <a:r>
              <a:rPr lang="en-US" dirty="0">
                <a:hlinkClick r:id="rId3"/>
              </a:rPr>
              <a:t>https://www.omg.org/spec/UML/2.5.1/PDF</a:t>
            </a:r>
            <a:r>
              <a:rPr lang="ru-RU" dirty="0" smtClean="0">
                <a:hlinkClick r:id="rId3"/>
              </a:rPr>
              <a:t> </a:t>
            </a:r>
            <a:endParaRPr lang="ru-RU" dirty="0"/>
          </a:p>
          <a:p>
            <a:endParaRPr lang="uk-UA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553" y="609599"/>
            <a:ext cx="4096322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5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Призначення </a:t>
            </a:r>
            <a:r>
              <a:rPr lang="uk-UA" i="1" dirty="0"/>
              <a:t>UML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857250" lvl="1" algn="just">
              <a:lnSpc>
                <a:spcPct val="110000"/>
              </a:lnSpc>
              <a:buFont typeface="Symbol" panose="05050102010706020507" pitchFamily="18" charset="2"/>
              <a:buChar char="·"/>
            </a:pPr>
            <a:r>
              <a:rPr lang="uk-UA" sz="2000" dirty="0"/>
              <a:t>Надати користувачу </a:t>
            </a:r>
            <a:r>
              <a:rPr lang="uk-UA" sz="2000" b="1" i="1" dirty="0"/>
              <a:t>засоби візуального моделювання</a:t>
            </a:r>
            <a:r>
              <a:rPr lang="uk-UA" sz="2000" dirty="0"/>
              <a:t> систем різного призначення, враховуючи, що далі буде здійснюватися їх розробка та  документування. </a:t>
            </a:r>
            <a:r>
              <a:rPr lang="uk-UA" sz="2000" i="1" dirty="0"/>
              <a:t>UML</a:t>
            </a:r>
            <a:r>
              <a:rPr lang="uk-UA" sz="2000" b="1" i="1" dirty="0"/>
              <a:t> </a:t>
            </a:r>
            <a:r>
              <a:rPr lang="uk-UA" sz="2000" dirty="0"/>
              <a:t>містить як абстрактні конструкції для представлення моделей, так і цілком конкретні, які дозволяють описувати деталі реалізації програмних систем.</a:t>
            </a:r>
          </a:p>
          <a:p>
            <a:pPr marL="857250" lvl="1" algn="just">
              <a:lnSpc>
                <a:spcPct val="110000"/>
              </a:lnSpc>
              <a:buFont typeface="Symbol" panose="05050102010706020507" pitchFamily="18" charset="2"/>
              <a:buChar char="·"/>
            </a:pPr>
            <a:r>
              <a:rPr lang="uk-UA" sz="2000" dirty="0"/>
              <a:t>Забезпечити користувачів </a:t>
            </a:r>
            <a:r>
              <a:rPr lang="uk-UA" sz="2000" b="1" i="1" dirty="0"/>
              <a:t>засобами розширення та специфікації</a:t>
            </a:r>
            <a:r>
              <a:rPr lang="uk-UA" sz="2000" dirty="0"/>
              <a:t> з метою більш точного опису конкретних предметних областей завдяки механізмів </a:t>
            </a:r>
            <a:r>
              <a:rPr lang="uk-UA" sz="2000" b="1" i="1" dirty="0"/>
              <a:t>розширення</a:t>
            </a:r>
            <a:r>
              <a:rPr lang="uk-UA" sz="2000" dirty="0"/>
              <a:t> базових понять. Крім того, можлива </a:t>
            </a:r>
            <a:r>
              <a:rPr lang="uk-UA" sz="2000" b="1" i="1" dirty="0"/>
              <a:t>спеціалізація</a:t>
            </a:r>
            <a:r>
              <a:rPr lang="uk-UA" sz="2000" dirty="0"/>
              <a:t> базових понять, шляхом доповнення останніх новими атрибутами чи властивостями.</a:t>
            </a:r>
          </a:p>
          <a:p>
            <a:pPr marL="857250" lvl="1" algn="just">
              <a:lnSpc>
                <a:spcPct val="110000"/>
              </a:lnSpc>
              <a:buFont typeface="Symbol" panose="05050102010706020507" pitchFamily="18" charset="2"/>
              <a:buChar char="·"/>
            </a:pPr>
            <a:r>
              <a:rPr lang="uk-UA" sz="2000" dirty="0"/>
              <a:t>Побудувати модель, яка, з одного боку, була б </a:t>
            </a:r>
            <a:r>
              <a:rPr lang="uk-UA" sz="2000" b="1" i="1" dirty="0"/>
              <a:t>незалежною</a:t>
            </a:r>
            <a:r>
              <a:rPr lang="uk-UA" sz="2000" dirty="0"/>
              <a:t> від конкретних мов програмування і, з іншого боку, забезпечувала б потенційні </a:t>
            </a:r>
            <a:r>
              <a:rPr lang="uk-UA" sz="2000" b="1" i="1" dirty="0"/>
              <a:t>можливості реалізації</a:t>
            </a:r>
            <a:r>
              <a:rPr lang="uk-UA" sz="2000" dirty="0"/>
              <a:t> у таких мовах.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3351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Підходи до моделювання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372183"/>
            <a:ext cx="7467941" cy="5207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3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Статичні та динамічні моделі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81000" algn="just">
              <a:buFontTx/>
              <a:buNone/>
            </a:pPr>
            <a:r>
              <a:rPr lang="uk-UA" sz="2000" dirty="0"/>
              <a:t>В </a:t>
            </a:r>
            <a:r>
              <a:rPr lang="uk-UA" sz="2000" i="1" dirty="0"/>
              <a:t>UML</a:t>
            </a:r>
            <a:r>
              <a:rPr lang="uk-UA" sz="2000" dirty="0"/>
              <a:t> </a:t>
            </a:r>
            <a:r>
              <a:rPr lang="uk-UA" sz="2000" b="1" i="1" dirty="0"/>
              <a:t>інтегровані</a:t>
            </a:r>
            <a:r>
              <a:rPr lang="uk-UA" sz="2000" dirty="0"/>
              <a:t> різноманітні відомі засоби візуального моделювання, які добре зарекомендували себе на практиці</a:t>
            </a:r>
            <a:r>
              <a:rPr lang="en-US" sz="2000" dirty="0"/>
              <a:t>. </a:t>
            </a:r>
            <a:r>
              <a:rPr lang="uk-UA" sz="2000" dirty="0"/>
              <a:t>Вони мають засоби опису двох видів об'єктних моделей:</a:t>
            </a:r>
          </a:p>
          <a:p>
            <a:pPr marL="857250" lvl="1" algn="just">
              <a:lnSpc>
                <a:spcPct val="90000"/>
              </a:lnSpc>
              <a:buFontTx/>
              <a:buChar char="•"/>
            </a:pPr>
            <a:r>
              <a:rPr lang="uk-UA" sz="2000" b="1" i="1" dirty="0"/>
              <a:t>структурної</a:t>
            </a:r>
            <a:r>
              <a:rPr lang="uk-UA" sz="2000" dirty="0"/>
              <a:t> (або </a:t>
            </a:r>
            <a:r>
              <a:rPr lang="uk-UA" sz="2000" b="1" i="1" dirty="0"/>
              <a:t>статичної</a:t>
            </a:r>
            <a:r>
              <a:rPr lang="uk-UA" sz="2000" dirty="0"/>
              <a:t>) </a:t>
            </a:r>
            <a:r>
              <a:rPr lang="uk-UA" sz="2000" b="1" i="1" dirty="0"/>
              <a:t>моделі</a:t>
            </a:r>
            <a:r>
              <a:rPr lang="uk-UA" sz="2000" dirty="0"/>
              <a:t> – описується структура сутностей системи, включаючи класи, інтерфейси, відношення, атрибути;</a:t>
            </a:r>
          </a:p>
          <a:p>
            <a:pPr marL="857250" lvl="1" algn="just">
              <a:lnSpc>
                <a:spcPct val="90000"/>
              </a:lnSpc>
              <a:buFontTx/>
              <a:buChar char="•"/>
            </a:pPr>
            <a:r>
              <a:rPr lang="uk-UA" sz="2000" dirty="0"/>
              <a:t>моделі </a:t>
            </a:r>
            <a:r>
              <a:rPr lang="uk-UA" sz="2000" b="1" i="1" dirty="0"/>
              <a:t>поведінки</a:t>
            </a:r>
            <a:r>
              <a:rPr lang="uk-UA" sz="2000" dirty="0"/>
              <a:t> (або </a:t>
            </a:r>
            <a:r>
              <a:rPr lang="uk-UA" sz="2000" b="1" i="1" dirty="0"/>
              <a:t>динамічні моделей</a:t>
            </a:r>
            <a:r>
              <a:rPr lang="uk-UA" sz="2000" dirty="0"/>
              <a:t>) – описується поведінка (функціонування) об'єктів системи, включаючи методи, взаємодію, процес зміни станів окремих компонент чи всієї системи.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60352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Діаграми </a:t>
            </a:r>
            <a:r>
              <a:rPr lang="uk-UA" i="1" dirty="0"/>
              <a:t>UML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81000" algn="just">
              <a:buFontTx/>
              <a:buNone/>
            </a:pPr>
            <a:r>
              <a:rPr lang="uk-UA" dirty="0"/>
              <a:t>Діаграма </a:t>
            </a:r>
            <a:r>
              <a:rPr lang="uk-UA" i="1" dirty="0"/>
              <a:t>UML</a:t>
            </a:r>
            <a:r>
              <a:rPr lang="uk-UA" dirty="0"/>
              <a:t> – це зображення у вигляді </a:t>
            </a:r>
            <a:r>
              <a:rPr lang="uk-UA" b="1" i="1" dirty="0"/>
              <a:t>графа з вершинами (сутностями) і ребрами (відношеннями)</a:t>
            </a:r>
            <a:r>
              <a:rPr lang="uk-UA" dirty="0"/>
              <a:t>.</a:t>
            </a:r>
          </a:p>
          <a:p>
            <a:pPr marL="0" indent="381000" algn="just">
              <a:buFontTx/>
              <a:buNone/>
            </a:pPr>
            <a:r>
              <a:rPr lang="uk-UA" dirty="0"/>
              <a:t>Основна </a:t>
            </a:r>
            <a:r>
              <a:rPr lang="uk-UA" b="1" i="1" dirty="0"/>
              <a:t>мета</a:t>
            </a:r>
            <a:r>
              <a:rPr lang="uk-UA" dirty="0"/>
              <a:t> діаграм – </a:t>
            </a:r>
            <a:r>
              <a:rPr lang="uk-UA" b="1" i="1" dirty="0"/>
              <a:t>візуалізація архітектури</a:t>
            </a:r>
            <a:r>
              <a:rPr lang="uk-UA" dirty="0"/>
              <a:t> розроблюваної системи з різних точок зору.</a:t>
            </a:r>
          </a:p>
          <a:p>
            <a:pPr marL="0" indent="381000" algn="just">
              <a:buFontTx/>
              <a:buNone/>
            </a:pPr>
            <a:r>
              <a:rPr lang="uk-UA" b="1" i="1" dirty="0"/>
              <a:t>Діаграма </a:t>
            </a:r>
            <a:r>
              <a:rPr lang="uk-UA" dirty="0"/>
              <a:t>–</a:t>
            </a:r>
            <a:r>
              <a:rPr lang="uk-UA" b="1" i="1" dirty="0"/>
              <a:t> деякий зріз системи.</a:t>
            </a:r>
            <a:r>
              <a:rPr lang="uk-UA" dirty="0"/>
              <a:t> Звичайно діаграми дають згорнуте представлення елементів, із яких складається розроблювана система. При цьому один і той самий елемент може бути присутнім у декількох (а іноді й в усіх) діаграмах.</a:t>
            </a:r>
          </a:p>
          <a:p>
            <a:pPr marL="0" indent="381000" algn="just">
              <a:buFontTx/>
              <a:buNone/>
            </a:pPr>
            <a:r>
              <a:rPr lang="uk-UA" dirty="0"/>
              <a:t>При візуальному моделюванні з </a:t>
            </a:r>
            <a:r>
              <a:rPr lang="uk-UA" i="1" dirty="0"/>
              <a:t>UML</a:t>
            </a:r>
            <a:r>
              <a:rPr lang="uk-UA" dirty="0"/>
              <a:t> використовуються </a:t>
            </a:r>
            <a:r>
              <a:rPr lang="uk-UA" b="1" i="1" dirty="0"/>
              <a:t>вісім видів діаграм</a:t>
            </a:r>
            <a:r>
              <a:rPr lang="uk-UA" dirty="0"/>
              <a:t>, кожна з яких може містити елементи певного типу. Типи можливих елементів і відношень між ними залежать від виду діаграми.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3383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Структурні діаграми 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567543"/>
            <a:ext cx="9296108" cy="4455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562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Поведінкові діаграми</a:t>
            </a:r>
            <a:endParaRPr lang="uk-UA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4864" r="983"/>
          <a:stretch/>
        </p:blipFill>
        <p:spPr>
          <a:xfrm>
            <a:off x="290286" y="1621972"/>
            <a:ext cx="11611428" cy="393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6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Номер слайда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02EBDF0-AA96-4A29-AC06-E4DB9F035E53}" type="slidenum">
              <a:rPr lang="ru-RU" sz="1400"/>
              <a:pPr/>
              <a:t>12</a:t>
            </a:fld>
            <a:endParaRPr lang="ru-RU" sz="1400"/>
          </a:p>
        </p:txBody>
      </p:sp>
      <p:sp>
        <p:nvSpPr>
          <p:cNvPr id="1331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818262" y="666282"/>
            <a:ext cx="8455739" cy="1137465"/>
          </a:xfrm>
        </p:spPr>
        <p:txBody>
          <a:bodyPr>
            <a:noAutofit/>
          </a:bodyPr>
          <a:lstStyle/>
          <a:p>
            <a:r>
              <a:rPr lang="uk-UA" dirty="0"/>
              <a:t>Діаграми </a:t>
            </a:r>
            <a:r>
              <a:rPr lang="uk-UA" i="1" dirty="0"/>
              <a:t>UML</a:t>
            </a:r>
            <a:r>
              <a:rPr lang="uk-UA" dirty="0"/>
              <a:t>: діаграми структури та діаграми поведінки</a:t>
            </a:r>
          </a:p>
        </p:txBody>
      </p:sp>
      <p:graphicFrame>
        <p:nvGraphicFramePr>
          <p:cNvPr id="2" name="Таблиця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84092"/>
              </p:ext>
            </p:extLst>
          </p:nvPr>
        </p:nvGraphicFramePr>
        <p:xfrm>
          <a:off x="942236" y="2069797"/>
          <a:ext cx="8128000" cy="40288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/>
                <a:gridCol w="4064000"/>
              </a:tblGrid>
              <a:tr h="794313"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Діаграми структури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Діаграми </a:t>
                      </a:r>
                      <a:r>
                        <a:rPr lang="uk-UA" sz="2400" dirty="0" err="1" smtClean="0"/>
                        <a:t>поведігки</a:t>
                      </a:r>
                      <a:endParaRPr lang="uk-UA" sz="2400" dirty="0"/>
                    </a:p>
                  </a:txBody>
                  <a:tcPr/>
                </a:tc>
              </a:tr>
              <a:tr h="794313"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Діаграма класів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Діаграма варіантів використання</a:t>
                      </a:r>
                      <a:endParaRPr lang="uk-UA" sz="2400" dirty="0"/>
                    </a:p>
                  </a:txBody>
                  <a:tcPr/>
                </a:tc>
              </a:tr>
              <a:tr h="794313"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Діаграма об</a:t>
                      </a:r>
                      <a:r>
                        <a:rPr lang="en-US" sz="2400" dirty="0" smtClean="0"/>
                        <a:t>’</a:t>
                      </a:r>
                      <a:r>
                        <a:rPr lang="uk-UA" sz="2400" dirty="0" err="1" smtClean="0"/>
                        <a:t>єктів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Діаграма діяльності</a:t>
                      </a:r>
                      <a:endParaRPr lang="uk-UA" sz="2400" dirty="0"/>
                    </a:p>
                  </a:txBody>
                  <a:tcPr/>
                </a:tc>
              </a:tr>
              <a:tr h="794313"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Діаграма</a:t>
                      </a:r>
                      <a:r>
                        <a:rPr lang="uk-UA" sz="2400" baseline="0" dirty="0" smtClean="0"/>
                        <a:t> компонентів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Діаграма послідовності та кооперації</a:t>
                      </a:r>
                      <a:endParaRPr lang="uk-UA" sz="2400" dirty="0"/>
                    </a:p>
                  </a:txBody>
                  <a:tcPr/>
                </a:tc>
              </a:tr>
              <a:tr h="794313"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Діаграма розгортання</a:t>
                      </a:r>
                      <a:endParaRPr lang="uk-UA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uk-UA" sz="2400" dirty="0" smtClean="0"/>
                        <a:t>Діаграма станів</a:t>
                      </a:r>
                      <a:endParaRPr lang="uk-UA" sz="24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89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Діаграма варіантів використання </a:t>
            </a:r>
            <a:r>
              <a:rPr lang="en-US" dirty="0" smtClean="0"/>
              <a:t>Use Case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Візуальне моделювання – деякий процес </a:t>
            </a:r>
            <a:r>
              <a:rPr lang="uk-UA" dirty="0" err="1" smtClean="0"/>
              <a:t>порівневого</a:t>
            </a:r>
            <a:r>
              <a:rPr lang="uk-UA" dirty="0" smtClean="0"/>
              <a:t> крокування від найзагальнішої і абстрактної концепції моделі системи до логічної, а потім до фізичної моделі відповідної програмної системи.</a:t>
            </a:r>
          </a:p>
          <a:p>
            <a:r>
              <a:rPr lang="uk-UA" dirty="0" smtClean="0"/>
              <a:t>Діаграма варіантів використання (</a:t>
            </a:r>
            <a:r>
              <a:rPr lang="en-US" dirty="0" smtClean="0"/>
              <a:t>use case)</a:t>
            </a:r>
            <a:r>
              <a:rPr lang="uk-UA" dirty="0" smtClean="0"/>
              <a:t> є початковою концептуальною моделлю системи.</a:t>
            </a:r>
          </a:p>
          <a:p>
            <a:r>
              <a:rPr lang="uk-UA" dirty="0" smtClean="0"/>
              <a:t>Діаграма варіантів використання належить до класу поведінкових діаграм, які визначають функціональність модельованої системи.</a:t>
            </a:r>
            <a:endParaRPr lang="en-US" dirty="0" smtClean="0"/>
          </a:p>
          <a:p>
            <a:r>
              <a:rPr lang="uk-UA" dirty="0" smtClean="0"/>
              <a:t>Описує </a:t>
            </a:r>
            <a:r>
              <a:rPr lang="uk-UA" b="1" i="1" dirty="0"/>
              <a:t>функціональність</a:t>
            </a:r>
            <a:r>
              <a:rPr lang="uk-UA" dirty="0"/>
              <a:t>, яка буде надаватись користувачам системи, котра проектується. Представляються шляхом використання </a:t>
            </a:r>
            <a:r>
              <a:rPr lang="uk-UA" b="1" i="1" dirty="0"/>
              <a:t>прецедентів</a:t>
            </a:r>
            <a:r>
              <a:rPr lang="uk-UA" dirty="0"/>
              <a:t> та </a:t>
            </a:r>
            <a:r>
              <a:rPr lang="uk-UA" b="1" i="1" dirty="0"/>
              <a:t>акторів</a:t>
            </a:r>
            <a:r>
              <a:rPr lang="uk-UA" dirty="0"/>
              <a:t>, а також </a:t>
            </a:r>
            <a:r>
              <a:rPr lang="uk-UA" b="1" i="1" dirty="0"/>
              <a:t>відношень між ними</a:t>
            </a:r>
            <a:r>
              <a:rPr lang="uk-UA" dirty="0"/>
              <a:t>. Набір усіх прецедентів діаграми фактично визначає </a:t>
            </a:r>
            <a:r>
              <a:rPr lang="uk-UA" b="1" i="1" dirty="0"/>
              <a:t>функціональні вимоги</a:t>
            </a:r>
            <a:r>
              <a:rPr lang="uk-UA" dirty="0"/>
              <a:t>, за допомогою яких може бути сформульоване </a:t>
            </a:r>
            <a:r>
              <a:rPr lang="uk-UA" b="1" i="1" dirty="0"/>
              <a:t>технічне завдання</a:t>
            </a:r>
            <a:r>
              <a:rPr lang="uk-UA" dirty="0"/>
              <a:t>. </a:t>
            </a:r>
          </a:p>
          <a:p>
            <a:endParaRPr lang="uk-UA" dirty="0" smtClean="0"/>
          </a:p>
          <a:p>
            <a:endParaRPr lang="uk-UA" dirty="0" smtClean="0"/>
          </a:p>
          <a:p>
            <a:endParaRPr lang="uk-UA" dirty="0" smtClean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139512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Види діаграм </a:t>
            </a:r>
            <a:r>
              <a:rPr lang="uk-UA" i="1" dirty="0"/>
              <a:t>UML. </a:t>
            </a:r>
            <a:r>
              <a:rPr lang="uk-UA" i="1" dirty="0" smtClean="0"/>
              <a:t/>
            </a:r>
            <a:br>
              <a:rPr lang="uk-UA" i="1" dirty="0" smtClean="0"/>
            </a:br>
            <a:r>
              <a:rPr lang="uk-UA" dirty="0" smtClean="0"/>
              <a:t>Коротка </a:t>
            </a:r>
            <a:r>
              <a:rPr lang="uk-UA" dirty="0"/>
              <a:t>характеристика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b="1" i="1" u="sng" dirty="0"/>
              <a:t>Діаграми прецедентів</a:t>
            </a:r>
            <a:r>
              <a:rPr lang="uk-UA" b="1" i="1" dirty="0"/>
              <a:t> або діаграми використання (</a:t>
            </a:r>
            <a:r>
              <a:rPr lang="uk-UA" b="1" i="1" dirty="0" err="1"/>
              <a:t>use</a:t>
            </a:r>
            <a:r>
              <a:rPr lang="uk-UA" b="1" i="1" dirty="0"/>
              <a:t> </a:t>
            </a:r>
            <a:r>
              <a:rPr lang="uk-UA" b="1" i="1" dirty="0" err="1"/>
              <a:t>case</a:t>
            </a:r>
            <a:r>
              <a:rPr lang="uk-UA" b="1" i="1" dirty="0"/>
              <a:t> </a:t>
            </a:r>
            <a:r>
              <a:rPr lang="uk-UA" b="1" i="1" dirty="0" err="1"/>
              <a:t>diagrams</a:t>
            </a:r>
            <a:r>
              <a:rPr lang="uk-UA" b="1" i="1" dirty="0"/>
              <a:t>). </a:t>
            </a:r>
            <a:r>
              <a:rPr lang="uk-UA" dirty="0"/>
              <a:t>Такі діаграми описують </a:t>
            </a:r>
            <a:r>
              <a:rPr lang="uk-UA" b="1" i="1" dirty="0"/>
              <a:t>функціональність</a:t>
            </a:r>
            <a:r>
              <a:rPr lang="uk-UA" dirty="0"/>
              <a:t>, яка буде надаватись користувачам системи, котра проектується. Представляються шляхом використання </a:t>
            </a:r>
            <a:r>
              <a:rPr lang="uk-UA" b="1" i="1" dirty="0"/>
              <a:t>прецедентів</a:t>
            </a:r>
            <a:r>
              <a:rPr lang="uk-UA" dirty="0"/>
              <a:t> та </a:t>
            </a:r>
            <a:r>
              <a:rPr lang="uk-UA" b="1" i="1" dirty="0"/>
              <a:t>акторів</a:t>
            </a:r>
            <a:r>
              <a:rPr lang="uk-UA" dirty="0"/>
              <a:t>, а також </a:t>
            </a:r>
            <a:r>
              <a:rPr lang="uk-UA" b="1" i="1" dirty="0"/>
              <a:t>відношень між ними</a:t>
            </a:r>
            <a:r>
              <a:rPr lang="uk-UA" dirty="0"/>
              <a:t>. Набір усіх прецедентів діаграми фактично визначає </a:t>
            </a:r>
            <a:r>
              <a:rPr lang="uk-UA" b="1" i="1" dirty="0"/>
              <a:t>функціональні вимоги</a:t>
            </a:r>
            <a:r>
              <a:rPr lang="uk-UA" dirty="0"/>
              <a:t>, за допомогою яких може бути сформульоване </a:t>
            </a:r>
            <a:r>
              <a:rPr lang="uk-UA" b="1" i="1" dirty="0"/>
              <a:t>технічне завдання</a:t>
            </a:r>
            <a:r>
              <a:rPr lang="uk-UA" dirty="0"/>
              <a:t>. </a:t>
            </a:r>
          </a:p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b="1" i="1" u="sng" dirty="0"/>
              <a:t>Діаграми класів</a:t>
            </a:r>
            <a:r>
              <a:rPr lang="uk-UA" b="1" i="1" dirty="0"/>
              <a:t> (</a:t>
            </a:r>
            <a:r>
              <a:rPr lang="uk-UA" b="1" i="1" dirty="0" err="1"/>
              <a:t>class</a:t>
            </a:r>
            <a:r>
              <a:rPr lang="uk-UA" b="1" i="1" dirty="0"/>
              <a:t> </a:t>
            </a:r>
            <a:r>
              <a:rPr lang="uk-UA" b="1" i="1" dirty="0" err="1"/>
              <a:t>diagrams</a:t>
            </a:r>
            <a:r>
              <a:rPr lang="uk-UA" b="1" i="1" dirty="0"/>
              <a:t>)</a:t>
            </a:r>
            <a:r>
              <a:rPr lang="uk-UA" dirty="0"/>
              <a:t> описують статичну структуру класів. Дозволяють (на концептуальному рівні) формувати "словник предметної області" та (на рівні специфікацій і рівні реалізацій) визначати структуру класів у програмній реалізації системи. Можуть використовуватись для генерації каркасного програмного коду (в реальній мові програмування).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800776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Види діаграм </a:t>
            </a:r>
            <a:r>
              <a:rPr lang="uk-UA" i="1" dirty="0"/>
              <a:t>UML. </a:t>
            </a:r>
            <a:r>
              <a:rPr lang="uk-UA" i="1" dirty="0" smtClean="0"/>
              <a:t/>
            </a:r>
            <a:br>
              <a:rPr lang="uk-UA" i="1" dirty="0" smtClean="0"/>
            </a:br>
            <a:r>
              <a:rPr lang="uk-UA" dirty="0" smtClean="0"/>
              <a:t>Коротка </a:t>
            </a:r>
            <a:r>
              <a:rPr lang="uk-UA" dirty="0"/>
              <a:t>характеристика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sz="2000" dirty="0"/>
              <a:t>Для опису динаміки використовуються </a:t>
            </a:r>
            <a:r>
              <a:rPr lang="uk-UA" sz="2000" b="1" i="1" dirty="0"/>
              <a:t>діаграми поведінки</a:t>
            </a:r>
            <a:r>
              <a:rPr lang="uk-UA" sz="2000" dirty="0"/>
              <a:t> </a:t>
            </a:r>
            <a:r>
              <a:rPr lang="uk-UA" sz="2000" b="1" i="1" dirty="0"/>
              <a:t>(</a:t>
            </a:r>
            <a:r>
              <a:rPr lang="uk-UA" sz="2000" b="1" i="1" dirty="0" err="1"/>
              <a:t>behavior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</a:t>
            </a:r>
            <a:r>
              <a:rPr lang="uk-UA" sz="2000" dirty="0"/>
              <a:t>, що підрозділяються на </a:t>
            </a:r>
          </a:p>
          <a:p>
            <a:pPr marL="857250" lvl="1" algn="just">
              <a:lnSpc>
                <a:spcPct val="110000"/>
              </a:lnSpc>
              <a:buFontTx/>
              <a:buChar char="•"/>
            </a:pPr>
            <a:r>
              <a:rPr lang="uk-UA" sz="1800" dirty="0"/>
              <a:t> </a:t>
            </a:r>
            <a:r>
              <a:rPr lang="uk-UA" sz="2000" b="1" i="1" u="sng" dirty="0"/>
              <a:t>діаграми станів</a:t>
            </a:r>
            <a:r>
              <a:rPr lang="uk-UA" sz="2000" b="1" i="1" dirty="0"/>
              <a:t> (</a:t>
            </a:r>
            <a:r>
              <a:rPr lang="uk-UA" sz="2000" b="1" i="1" dirty="0" err="1"/>
              <a:t>statechart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);</a:t>
            </a:r>
            <a:r>
              <a:rPr lang="uk-UA" sz="2000" dirty="0"/>
              <a:t> </a:t>
            </a:r>
            <a:endParaRPr lang="uk-UA" sz="2000" b="1" i="1" dirty="0"/>
          </a:p>
          <a:p>
            <a:pPr marL="857250" lvl="1" algn="just">
              <a:lnSpc>
                <a:spcPct val="110000"/>
              </a:lnSpc>
              <a:buFontTx/>
              <a:buChar char="•"/>
            </a:pPr>
            <a:r>
              <a:rPr lang="uk-UA" sz="2000" b="1" i="1" dirty="0"/>
              <a:t> </a:t>
            </a:r>
            <a:r>
              <a:rPr lang="uk-UA" sz="2000" b="1" i="1" u="sng" dirty="0"/>
              <a:t>діаграми діяльності</a:t>
            </a:r>
            <a:r>
              <a:rPr lang="uk-UA" sz="2000" b="1" i="1" dirty="0"/>
              <a:t> (активності) (</a:t>
            </a:r>
            <a:r>
              <a:rPr lang="uk-UA" sz="2000" b="1" i="1" dirty="0" err="1"/>
              <a:t>activity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); </a:t>
            </a:r>
          </a:p>
          <a:p>
            <a:pPr marL="857250" lvl="1" algn="just">
              <a:lnSpc>
                <a:spcPct val="110000"/>
              </a:lnSpc>
              <a:buFontTx/>
              <a:buChar char="•"/>
            </a:pPr>
            <a:r>
              <a:rPr lang="uk-UA" sz="2000" b="1" i="1" dirty="0"/>
              <a:t> </a:t>
            </a:r>
            <a:r>
              <a:rPr lang="uk-UA" sz="2000" b="1" i="1" u="sng" dirty="0"/>
              <a:t>діаграми взаємодії</a:t>
            </a:r>
            <a:r>
              <a:rPr lang="uk-UA" sz="2000" b="1" i="1" dirty="0"/>
              <a:t> (</a:t>
            </a:r>
            <a:r>
              <a:rPr lang="uk-UA" sz="2000" b="1" i="1" dirty="0" err="1"/>
              <a:t>interaction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),</a:t>
            </a:r>
            <a:r>
              <a:rPr lang="uk-UA" sz="2000" dirty="0"/>
              <a:t> що у свою чергу підрозділяються на </a:t>
            </a:r>
          </a:p>
          <a:p>
            <a:pPr marL="1276350" lvl="2" algn="just">
              <a:lnSpc>
                <a:spcPct val="110000"/>
              </a:lnSpc>
              <a:buFontTx/>
              <a:buChar char="–"/>
            </a:pPr>
            <a:r>
              <a:rPr lang="uk-UA" sz="2000" dirty="0"/>
              <a:t> </a:t>
            </a:r>
            <a:r>
              <a:rPr lang="uk-UA" sz="2000" b="1" i="1" u="sng" dirty="0"/>
              <a:t>діаграм послідовності</a:t>
            </a:r>
            <a:r>
              <a:rPr lang="uk-UA" sz="2000" b="1" i="1" dirty="0"/>
              <a:t> (</a:t>
            </a:r>
            <a:r>
              <a:rPr lang="uk-UA" sz="2000" b="1" i="1" dirty="0" err="1"/>
              <a:t>sequence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); </a:t>
            </a:r>
          </a:p>
          <a:p>
            <a:pPr marL="1276350" lvl="2" algn="just">
              <a:lnSpc>
                <a:spcPct val="110000"/>
              </a:lnSpc>
              <a:buFontTx/>
              <a:buChar char="–"/>
            </a:pPr>
            <a:r>
              <a:rPr lang="uk-UA" sz="2000" b="1" i="1" dirty="0"/>
              <a:t> </a:t>
            </a:r>
            <a:r>
              <a:rPr lang="uk-UA" sz="2000" b="1" i="1" u="sng" dirty="0"/>
              <a:t>діаграм кооперації (співробітництва)</a:t>
            </a:r>
            <a:r>
              <a:rPr lang="uk-UA" sz="2000" b="1" i="1" dirty="0"/>
              <a:t> (</a:t>
            </a:r>
            <a:r>
              <a:rPr lang="uk-UA" sz="2000" b="1" i="1" dirty="0" err="1"/>
              <a:t>collaboration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). </a:t>
            </a:r>
          </a:p>
          <a:p>
            <a:pPr marL="1276350" lvl="2" algn="just">
              <a:lnSpc>
                <a:spcPct val="70000"/>
              </a:lnSpc>
              <a:buFontTx/>
              <a:buNone/>
            </a:pPr>
            <a:endParaRPr lang="uk-UA" sz="2000" b="1" i="1" dirty="0"/>
          </a:p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sz="2000" dirty="0"/>
              <a:t>І, нарешті, </a:t>
            </a:r>
            <a:r>
              <a:rPr lang="uk-UA" sz="2000" b="1" i="1" dirty="0"/>
              <a:t>діаграми реалізації (</a:t>
            </a:r>
            <a:r>
              <a:rPr lang="uk-UA" sz="2000" b="1" i="1" dirty="0" err="1"/>
              <a:t>implementation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</a:t>
            </a:r>
            <a:r>
              <a:rPr lang="uk-UA" sz="2000" dirty="0"/>
              <a:t> поділяються на</a:t>
            </a:r>
          </a:p>
          <a:p>
            <a:pPr marL="857250" lvl="1" algn="just">
              <a:lnSpc>
                <a:spcPct val="110000"/>
              </a:lnSpc>
              <a:buFontTx/>
              <a:buChar char="•"/>
            </a:pPr>
            <a:r>
              <a:rPr lang="uk-UA" sz="2000" b="1" i="1" u="sng" dirty="0"/>
              <a:t>компонентні діаграми</a:t>
            </a:r>
            <a:r>
              <a:rPr lang="uk-UA" sz="2000" dirty="0"/>
              <a:t>· </a:t>
            </a:r>
            <a:r>
              <a:rPr lang="uk-UA" sz="2000" b="1" i="1" dirty="0"/>
              <a:t>(діаграми компонентів) (</a:t>
            </a:r>
            <a:r>
              <a:rPr lang="uk-UA" sz="2000" b="1" i="1" dirty="0" err="1"/>
              <a:t>component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);</a:t>
            </a:r>
          </a:p>
          <a:p>
            <a:pPr marL="857250" lvl="1" algn="just">
              <a:lnSpc>
                <a:spcPct val="110000"/>
              </a:lnSpc>
              <a:buFontTx/>
              <a:buChar char="•"/>
            </a:pPr>
            <a:r>
              <a:rPr lang="uk-UA" sz="2000" b="1" i="1" u="sng" dirty="0"/>
              <a:t>діаграми розгортання</a:t>
            </a:r>
            <a:r>
              <a:rPr lang="uk-UA" sz="2000" b="1" i="1" dirty="0"/>
              <a:t>· (</a:t>
            </a:r>
            <a:r>
              <a:rPr lang="uk-UA" sz="2000" b="1" i="1" dirty="0" err="1"/>
              <a:t>deployment</a:t>
            </a:r>
            <a:r>
              <a:rPr lang="uk-UA" sz="2000" b="1" i="1" dirty="0"/>
              <a:t> </a:t>
            </a:r>
            <a:r>
              <a:rPr lang="uk-UA" sz="2000" b="1" i="1" dirty="0" err="1"/>
              <a:t>diagrams</a:t>
            </a:r>
            <a:r>
              <a:rPr lang="uk-UA" sz="2000" b="1" i="1" dirty="0"/>
              <a:t>).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4031598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Стратегія </a:t>
            </a:r>
            <a:r>
              <a:rPr lang="uk-UA" dirty="0"/>
              <a:t>використання </a:t>
            </a:r>
            <a:r>
              <a:rPr lang="uk-UA" dirty="0" smtClean="0"/>
              <a:t/>
            </a:r>
            <a:br>
              <a:rPr lang="uk-UA" dirty="0" smtClean="0"/>
            </a:br>
            <a:r>
              <a:rPr lang="uk-UA" i="1" dirty="0" smtClean="0"/>
              <a:t>UML</a:t>
            </a:r>
            <a:r>
              <a:rPr lang="uk-UA" dirty="0" smtClean="0"/>
              <a:t>-діаграм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381000" algn="just">
              <a:spcBef>
                <a:spcPct val="30000"/>
              </a:spcBef>
              <a:spcAft>
                <a:spcPct val="30000"/>
              </a:spcAft>
              <a:buFontTx/>
              <a:buNone/>
            </a:pPr>
            <a:r>
              <a:rPr lang="uk-UA" dirty="0"/>
              <a:t>Спочатку для програмної системи серією </a:t>
            </a:r>
            <a:r>
              <a:rPr lang="uk-UA" b="1" i="1" dirty="0"/>
              <a:t>діаграм прецедентів</a:t>
            </a:r>
            <a:r>
              <a:rPr lang="uk-UA" dirty="0"/>
              <a:t> визначається її </a:t>
            </a:r>
            <a:r>
              <a:rPr lang="uk-UA" b="1" i="1" dirty="0"/>
              <a:t>зовнішня функціональність</a:t>
            </a:r>
            <a:r>
              <a:rPr lang="uk-UA" dirty="0"/>
              <a:t> (виділяються всі прецеденти та актори, а також відношення між ними).</a:t>
            </a:r>
          </a:p>
          <a:p>
            <a:pPr marL="0" indent="381000" algn="just">
              <a:spcBef>
                <a:spcPct val="30000"/>
              </a:spcBef>
              <a:spcAft>
                <a:spcPct val="30000"/>
              </a:spcAft>
              <a:buFontTx/>
              <a:buNone/>
            </a:pPr>
            <a:r>
              <a:rPr lang="uk-UA" dirty="0"/>
              <a:t>Уся подальша робота над проектом має </a:t>
            </a:r>
            <a:r>
              <a:rPr lang="uk-UA" dirty="0" err="1"/>
              <a:t>здійснюватись</a:t>
            </a:r>
            <a:r>
              <a:rPr lang="uk-UA" dirty="0"/>
              <a:t> на основі прецедентів: для кожного прецеденту формується опис його динаміки у вигляді серії </a:t>
            </a:r>
            <a:r>
              <a:rPr lang="uk-UA" b="1" i="1" dirty="0"/>
              <a:t>діаграм взаємодії</a:t>
            </a:r>
            <a:r>
              <a:rPr lang="uk-UA" dirty="0"/>
              <a:t> та </a:t>
            </a:r>
            <a:r>
              <a:rPr lang="uk-UA" b="1" i="1" dirty="0"/>
              <a:t>діаграм діяльності</a:t>
            </a:r>
            <a:r>
              <a:rPr lang="uk-UA" dirty="0"/>
              <a:t>.</a:t>
            </a:r>
          </a:p>
          <a:p>
            <a:pPr marL="0" indent="381000" algn="just">
              <a:spcBef>
                <a:spcPct val="30000"/>
              </a:spcBef>
              <a:spcAft>
                <a:spcPct val="30000"/>
              </a:spcAft>
              <a:buFontTx/>
              <a:buNone/>
            </a:pPr>
            <a:r>
              <a:rPr lang="uk-UA" dirty="0"/>
              <a:t>З отриманих описів шляхом виявлення об'єктів, що задіяні в реалізації прецедентів, будуються </a:t>
            </a:r>
            <a:r>
              <a:rPr lang="uk-UA" b="1" i="1" dirty="0"/>
              <a:t>діаграми класів</a:t>
            </a:r>
            <a:r>
              <a:rPr lang="uk-UA" dirty="0"/>
              <a:t>.</a:t>
            </a:r>
          </a:p>
          <a:p>
            <a:pPr marL="0" indent="381000" algn="just">
              <a:spcBef>
                <a:spcPct val="30000"/>
              </a:spcBef>
              <a:spcAft>
                <a:spcPct val="30000"/>
              </a:spcAft>
              <a:buFontTx/>
              <a:buNone/>
            </a:pPr>
            <a:r>
              <a:rPr lang="uk-UA" dirty="0"/>
              <a:t>Для визначення поведінки класів із складною динамікою реагування на події можуть </a:t>
            </a:r>
            <a:r>
              <a:rPr lang="uk-UA" dirty="0" err="1"/>
              <a:t>формуватись</a:t>
            </a:r>
            <a:r>
              <a:rPr lang="uk-UA" dirty="0"/>
              <a:t> </a:t>
            </a:r>
            <a:r>
              <a:rPr lang="uk-UA" b="1" i="1" dirty="0"/>
              <a:t>діаграми станів</a:t>
            </a:r>
            <a:r>
              <a:rPr lang="uk-UA" dirty="0"/>
              <a:t>.</a:t>
            </a:r>
          </a:p>
          <a:p>
            <a:pPr marL="0" indent="381000" algn="just">
              <a:spcBef>
                <a:spcPct val="30000"/>
              </a:spcBef>
              <a:spcAft>
                <a:spcPct val="30000"/>
              </a:spcAft>
              <a:buFontTx/>
              <a:buNone/>
            </a:pPr>
            <a:r>
              <a:rPr lang="uk-UA" dirty="0"/>
              <a:t>Розміщення об'єктів по програмних модулях описується в </a:t>
            </a:r>
            <a:r>
              <a:rPr lang="uk-UA" b="1" i="1" dirty="0"/>
              <a:t>компонентних діаграмах</a:t>
            </a:r>
            <a:r>
              <a:rPr lang="uk-UA" dirty="0"/>
              <a:t>, а розміщення програмних модулів по вузлах комп'ютерам мережі – у </a:t>
            </a:r>
            <a:r>
              <a:rPr lang="uk-UA" b="1" i="1" dirty="0"/>
              <a:t>діаграмах розгортання</a:t>
            </a:r>
            <a:r>
              <a:rPr lang="uk-UA" dirty="0"/>
              <a:t>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46450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Цілі застосування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1772282"/>
            <a:ext cx="8596668" cy="4941669"/>
          </a:xfrm>
        </p:spPr>
        <p:txBody>
          <a:bodyPr>
            <a:normAutofit fontScale="85000" lnSpcReduction="10000"/>
          </a:bodyPr>
          <a:lstStyle/>
          <a:p>
            <a:pPr marL="0" indent="381000" algn="just">
              <a:buFontTx/>
              <a:buNone/>
            </a:pPr>
            <a:r>
              <a:rPr lang="uk-UA" sz="2000" dirty="0" smtClean="0"/>
              <a:t>Діаграми </a:t>
            </a:r>
            <a:r>
              <a:rPr lang="uk-UA" sz="2000" dirty="0"/>
              <a:t>варіантів використання є </a:t>
            </a:r>
            <a:r>
              <a:rPr lang="uk-UA" sz="2000" b="1" i="1" dirty="0"/>
              <a:t>первісним,</a:t>
            </a:r>
            <a:r>
              <a:rPr lang="uk-UA" sz="2000" dirty="0"/>
              <a:t> </a:t>
            </a:r>
            <a:r>
              <a:rPr lang="uk-UA" sz="2000" b="1" i="1" dirty="0"/>
              <a:t>концептуальним</a:t>
            </a:r>
            <a:r>
              <a:rPr lang="uk-UA" sz="2000" dirty="0"/>
              <a:t> </a:t>
            </a:r>
            <a:r>
              <a:rPr lang="uk-UA" sz="2000" b="1" i="1" dirty="0"/>
              <a:t>представленням</a:t>
            </a:r>
            <a:r>
              <a:rPr lang="uk-UA" sz="2000" dirty="0"/>
              <a:t> (</a:t>
            </a:r>
            <a:r>
              <a:rPr lang="uk-UA" sz="2000" b="1" i="1" dirty="0"/>
              <a:t>концептуальною моделлю</a:t>
            </a:r>
            <a:r>
              <a:rPr lang="uk-UA" sz="2000" dirty="0"/>
              <a:t>) ПС в процесі її проектування й розробки. Вони виступають основою </a:t>
            </a:r>
            <a:r>
              <a:rPr lang="uk-UA" sz="2000" b="1" i="1" dirty="0"/>
              <a:t>подальшої деталізації</a:t>
            </a:r>
            <a:r>
              <a:rPr lang="uk-UA" sz="2000" dirty="0"/>
              <a:t>  системи у формі логічних і фізичних моделей.</a:t>
            </a:r>
          </a:p>
          <a:p>
            <a:pPr marL="0" indent="381000" algn="just">
              <a:buFontTx/>
              <a:buNone/>
            </a:pPr>
            <a:r>
              <a:rPr lang="uk-UA" sz="2000" dirty="0"/>
              <a:t>Розробка діаграм варіантів використання переслідує такі конкретні цілі:</a:t>
            </a:r>
          </a:p>
          <a:p>
            <a:pPr marL="857250" lvl="1" algn="just"/>
            <a:r>
              <a:rPr lang="uk-UA" sz="2000" dirty="0"/>
              <a:t>визначити загальні </a:t>
            </a:r>
            <a:r>
              <a:rPr lang="uk-UA" sz="2000" b="1" i="1" dirty="0"/>
              <a:t>кордони</a:t>
            </a:r>
            <a:r>
              <a:rPr lang="uk-UA" sz="2000" dirty="0"/>
              <a:t> та </a:t>
            </a:r>
            <a:r>
              <a:rPr lang="uk-UA" sz="2000" b="1" i="1" dirty="0"/>
              <a:t>контекст</a:t>
            </a:r>
            <a:r>
              <a:rPr lang="uk-UA" sz="2000" dirty="0"/>
              <a:t> системи;</a:t>
            </a:r>
          </a:p>
          <a:p>
            <a:pPr marL="857250" lvl="1" algn="just"/>
            <a:r>
              <a:rPr lang="uk-UA" sz="2000" dirty="0"/>
              <a:t>сформулювати загальні </a:t>
            </a:r>
            <a:r>
              <a:rPr lang="uk-UA" sz="2000" b="1" i="1" dirty="0"/>
              <a:t>вимоги</a:t>
            </a:r>
            <a:r>
              <a:rPr lang="uk-UA" sz="2000" dirty="0"/>
              <a:t> до </a:t>
            </a:r>
            <a:r>
              <a:rPr lang="uk-UA" sz="2000" b="1" i="1" dirty="0"/>
              <a:t>функціональної поведінки</a:t>
            </a:r>
            <a:r>
              <a:rPr lang="uk-UA" sz="2000" dirty="0"/>
              <a:t> системи;</a:t>
            </a:r>
          </a:p>
          <a:p>
            <a:pPr marL="857250" lvl="1" algn="just"/>
            <a:r>
              <a:rPr lang="uk-UA" sz="2000" dirty="0"/>
              <a:t>отримати </a:t>
            </a:r>
            <a:r>
              <a:rPr lang="uk-UA" sz="2000" b="1" i="1" dirty="0"/>
              <a:t>первісну</a:t>
            </a:r>
            <a:r>
              <a:rPr lang="uk-UA" sz="2000" dirty="0"/>
              <a:t> документацію для предметної взаємодії розроблювачів системи з її замовниками й користувачами.</a:t>
            </a:r>
          </a:p>
          <a:p>
            <a:pPr marL="0" indent="381000" algn="just">
              <a:buFontTx/>
              <a:buNone/>
            </a:pPr>
            <a:endParaRPr lang="uk-UA" sz="2000" dirty="0"/>
          </a:p>
          <a:p>
            <a:pPr marL="0" indent="0">
              <a:buNone/>
            </a:pPr>
            <a:r>
              <a:rPr lang="uk-UA" sz="2000" dirty="0"/>
              <a:t>Проектована система подається у вигляді множини сутностей (акторів), взаємодія яких із системою здійснюється за допомогою так званих варіантів використання.</a:t>
            </a:r>
          </a:p>
          <a:p>
            <a:pPr marL="0" indent="0">
              <a:buNone/>
            </a:pPr>
            <a:r>
              <a:rPr lang="uk-UA" sz="2000" dirty="0"/>
              <a:t>Діаграма варіантів використання - граф спеціального типу, нотації якого це: </a:t>
            </a:r>
          </a:p>
          <a:p>
            <a:pPr indent="1811338"/>
            <a:r>
              <a:rPr lang="uk-UA" sz="2000" dirty="0"/>
              <a:t>актори, </a:t>
            </a:r>
          </a:p>
          <a:p>
            <a:pPr indent="1811338"/>
            <a:r>
              <a:rPr lang="uk-UA" sz="2000" dirty="0"/>
              <a:t>варіанти використання  </a:t>
            </a:r>
          </a:p>
          <a:p>
            <a:pPr indent="1811338"/>
            <a:r>
              <a:rPr lang="uk-UA" sz="2000" dirty="0"/>
              <a:t>відношень між </a:t>
            </a:r>
            <a:r>
              <a:rPr lang="uk-UA" sz="2000" dirty="0" smtClean="0"/>
              <a:t>ними</a:t>
            </a:r>
            <a:endParaRPr lang="uk-UA" sz="2000" dirty="0"/>
          </a:p>
          <a:p>
            <a:pPr indent="1811338"/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28278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65016" y="654560"/>
            <a:ext cx="2679642" cy="1320800"/>
          </a:xfrm>
        </p:spPr>
        <p:txBody>
          <a:bodyPr/>
          <a:lstStyle/>
          <a:p>
            <a:r>
              <a:rPr lang="uk-UA" dirty="0" smtClean="0"/>
              <a:t>Актор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3751696"/>
          </a:xfrm>
        </p:spPr>
        <p:txBody>
          <a:bodyPr>
            <a:normAutofit lnSpcReduction="10000"/>
          </a:bodyPr>
          <a:lstStyle/>
          <a:p>
            <a:pPr marL="0" indent="381000" algn="just">
              <a:lnSpc>
                <a:spcPct val="92000"/>
              </a:lnSpc>
              <a:spcBef>
                <a:spcPts val="288"/>
              </a:spcBef>
              <a:buFontTx/>
              <a:buNone/>
            </a:pPr>
            <a:r>
              <a:rPr lang="uk-UA" dirty="0"/>
              <a:t>Діаграми варіантів використання створюються на </a:t>
            </a:r>
            <a:r>
              <a:rPr lang="uk-UA" b="1" i="1" dirty="0"/>
              <a:t>етапі аналізу вимог</a:t>
            </a:r>
            <a:r>
              <a:rPr lang="uk-UA" dirty="0"/>
              <a:t> до системи. </a:t>
            </a:r>
          </a:p>
          <a:p>
            <a:pPr marL="0" indent="381000" algn="just">
              <a:lnSpc>
                <a:spcPct val="92000"/>
              </a:lnSpc>
              <a:spcBef>
                <a:spcPts val="288"/>
              </a:spcBef>
              <a:buNone/>
            </a:pPr>
            <a:r>
              <a:rPr lang="uk-UA" dirty="0"/>
              <a:t>Аналіз починається з ідентифікації </a:t>
            </a:r>
            <a:r>
              <a:rPr lang="uk-UA" b="1" i="1" dirty="0"/>
              <a:t>акторів</a:t>
            </a:r>
            <a:r>
              <a:rPr lang="uk-UA" dirty="0"/>
              <a:t> </a:t>
            </a:r>
            <a:r>
              <a:rPr lang="uk-UA" b="1" i="1" dirty="0"/>
              <a:t>(діячів, діючих осіб, </a:t>
            </a:r>
            <a:r>
              <a:rPr lang="uk-UA" b="1" i="1" dirty="0" err="1"/>
              <a:t>актантів</a:t>
            </a:r>
            <a:r>
              <a:rPr lang="uk-UA" b="1" i="1" dirty="0"/>
              <a:t>) (</a:t>
            </a:r>
            <a:r>
              <a:rPr lang="uk-UA" b="1" i="1" dirty="0" err="1"/>
              <a:t>actors</a:t>
            </a:r>
            <a:r>
              <a:rPr lang="uk-UA" b="1" i="1" dirty="0"/>
              <a:t>),</a:t>
            </a:r>
            <a:r>
              <a:rPr lang="uk-UA" dirty="0"/>
              <a:t> як потенційних користувачів системи. Діячі позначаються на діаграмі стилізованими людськими фігурками.</a:t>
            </a:r>
          </a:p>
          <a:p>
            <a:pPr marL="0" indent="381000" algn="just">
              <a:lnSpc>
                <a:spcPct val="92000"/>
              </a:lnSpc>
              <a:spcBef>
                <a:spcPts val="288"/>
              </a:spcBef>
              <a:buFontTx/>
              <a:buNone/>
            </a:pPr>
            <a:r>
              <a:rPr lang="uk-UA" dirty="0" smtClean="0"/>
              <a:t>Для </a:t>
            </a:r>
            <a:r>
              <a:rPr lang="uk-UA" dirty="0"/>
              <a:t>визначення акторів, необхідно розглянути ситуації, типові для використання системи. Користувачами системи не обов'язково мають бути </a:t>
            </a:r>
            <a:r>
              <a:rPr lang="uk-UA" b="1" i="1" dirty="0"/>
              <a:t>люди</a:t>
            </a:r>
            <a:r>
              <a:rPr lang="uk-UA" dirty="0"/>
              <a:t>; це можуть бути інші (зовнішні) </a:t>
            </a:r>
            <a:r>
              <a:rPr lang="uk-UA" b="1" i="1" dirty="0"/>
              <a:t>системи</a:t>
            </a:r>
            <a:r>
              <a:rPr lang="uk-UA" dirty="0"/>
              <a:t>, що звертаються до даної системи чи до яких звертається дана система.</a:t>
            </a:r>
          </a:p>
          <a:p>
            <a:pPr marL="0" indent="381000" algn="just">
              <a:lnSpc>
                <a:spcPct val="92000"/>
              </a:lnSpc>
              <a:spcBef>
                <a:spcPts val="288"/>
              </a:spcBef>
              <a:buFontTx/>
              <a:buNone/>
            </a:pPr>
            <a:r>
              <a:rPr lang="uk-UA" dirty="0"/>
              <a:t>Варто зауважити, що між діячами й користувачами системи є важлива відмінність: </a:t>
            </a:r>
            <a:r>
              <a:rPr lang="uk-UA" b="1" i="1" dirty="0"/>
              <a:t>актор</a:t>
            </a:r>
            <a:r>
              <a:rPr lang="uk-UA" dirty="0"/>
              <a:t> </a:t>
            </a:r>
            <a:r>
              <a:rPr lang="uk-UA" b="1" i="1" dirty="0"/>
              <a:t>– це типи</a:t>
            </a:r>
            <a:r>
              <a:rPr lang="uk-UA" dirty="0"/>
              <a:t>, користувачі </a:t>
            </a:r>
            <a:r>
              <a:rPr lang="uk-UA" b="1" i="1" dirty="0"/>
              <a:t>–</a:t>
            </a:r>
            <a:r>
              <a:rPr lang="uk-UA" dirty="0"/>
              <a:t> конкретні </a:t>
            </a:r>
            <a:r>
              <a:rPr lang="uk-UA" b="1" i="1" dirty="0"/>
              <a:t>екземпляри</a:t>
            </a:r>
            <a:r>
              <a:rPr lang="uk-UA" dirty="0"/>
              <a:t> таких </a:t>
            </a:r>
            <a:r>
              <a:rPr lang="uk-UA" b="1" i="1" dirty="0"/>
              <a:t>типів</a:t>
            </a:r>
            <a:r>
              <a:rPr lang="uk-UA" dirty="0"/>
              <a:t>.</a:t>
            </a:r>
          </a:p>
          <a:p>
            <a:pPr marL="0" indent="381000" algn="just">
              <a:buFontTx/>
              <a:buNone/>
            </a:pPr>
            <a:r>
              <a:rPr lang="uk-UA" dirty="0"/>
              <a:t>Сутності, що знаходяться поза системою і взаємодіють із нею, складають її </a:t>
            </a:r>
            <a:r>
              <a:rPr lang="uk-UA" b="1" i="1" dirty="0"/>
              <a:t>контекст</a:t>
            </a:r>
            <a:r>
              <a:rPr lang="uk-UA" dirty="0"/>
              <a:t>. Таким чином, визначення </a:t>
            </a:r>
            <a:r>
              <a:rPr lang="uk-UA" b="1" i="1" dirty="0"/>
              <a:t>акторів </a:t>
            </a:r>
            <a:r>
              <a:rPr lang="uk-UA" dirty="0"/>
              <a:t>діаграм прецедентів дозволяє </a:t>
            </a:r>
            <a:r>
              <a:rPr lang="uk-UA" b="1" i="1" dirty="0"/>
              <a:t>моделювати контекст</a:t>
            </a:r>
            <a:r>
              <a:rPr lang="uk-UA" dirty="0"/>
              <a:t> системи. </a:t>
            </a:r>
          </a:p>
          <a:p>
            <a:endParaRPr lang="uk-UA" dirty="0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4779815"/>
              </p:ext>
            </p:extLst>
          </p:nvPr>
        </p:nvGraphicFramePr>
        <p:xfrm>
          <a:off x="6809072" y="596105"/>
          <a:ext cx="995363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0" name="Точечный рисунок" r:id="rId3" imgW="676369" imgH="828791" progId="Paint.Picture">
                  <p:embed/>
                </p:oleObj>
              </mc:Choice>
              <mc:Fallback>
                <p:oleObj name="Точечный рисунок" r:id="rId3" imgW="676369" imgH="82879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9072" y="596105"/>
                        <a:ext cx="995363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6791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77334" y="772438"/>
            <a:ext cx="9343489" cy="1068888"/>
          </a:xfrm>
        </p:spPr>
        <p:txBody>
          <a:bodyPr>
            <a:normAutofit fontScale="90000"/>
          </a:bodyPr>
          <a:lstStyle/>
          <a:p>
            <a:r>
              <a:rPr lang="uk-UA" dirty="0"/>
              <a:t>Варіанти використання, прецеденти </a:t>
            </a:r>
            <a:r>
              <a:rPr lang="uk-UA" dirty="0" smtClean="0"/>
              <a:t>(</a:t>
            </a:r>
            <a:r>
              <a:rPr lang="en-US" i="1" dirty="0"/>
              <a:t>u</a:t>
            </a:r>
            <a:r>
              <a:rPr lang="uk-UA" i="1" dirty="0" err="1" smtClean="0"/>
              <a:t>sе</a:t>
            </a:r>
            <a:r>
              <a:rPr lang="en-US" i="1" dirty="0" smtClean="0"/>
              <a:t> </a:t>
            </a:r>
            <a:r>
              <a:rPr lang="uk-UA" i="1" dirty="0" err="1" smtClean="0"/>
              <a:t>са</a:t>
            </a:r>
            <a:r>
              <a:rPr lang="en-US" i="1" dirty="0" smtClean="0"/>
              <a:t>s</a:t>
            </a:r>
            <a:r>
              <a:rPr lang="uk-UA" i="1" dirty="0" smtClean="0"/>
              <a:t>е</a:t>
            </a:r>
            <a:r>
              <a:rPr lang="uk-UA" dirty="0"/>
              <a:t>). Моделювання вимог до системи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381000" algn="just">
              <a:lnSpc>
                <a:spcPct val="90000"/>
              </a:lnSpc>
              <a:buFontTx/>
              <a:buNone/>
            </a:pPr>
            <a:r>
              <a:rPr lang="uk-UA" dirty="0"/>
              <a:t>Прецеденти є засобом специфікації системи с точки зору отримання </a:t>
            </a:r>
            <a:r>
              <a:rPr lang="uk-UA" b="1" i="1" dirty="0"/>
              <a:t>акторами</a:t>
            </a:r>
            <a:r>
              <a:rPr lang="uk-UA" dirty="0"/>
              <a:t> деяких істотних для них </a:t>
            </a:r>
            <a:r>
              <a:rPr lang="uk-UA" b="1" i="1" dirty="0"/>
              <a:t>результатів</a:t>
            </a:r>
            <a:r>
              <a:rPr lang="uk-UA" dirty="0"/>
              <a:t>. Тобто, прецедентами задаються </a:t>
            </a:r>
            <a:r>
              <a:rPr lang="uk-UA" b="1" i="1" dirty="0"/>
              <a:t>сервіси</a:t>
            </a:r>
            <a:r>
              <a:rPr lang="uk-UA" dirty="0"/>
              <a:t> (</a:t>
            </a:r>
            <a:r>
              <a:rPr lang="uk-UA" b="1" i="1" dirty="0"/>
              <a:t>функціональні можливості</a:t>
            </a:r>
            <a:r>
              <a:rPr lang="uk-UA" dirty="0"/>
              <a:t>) системи, якими може скористатись діяч.</a:t>
            </a:r>
          </a:p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dirty="0"/>
              <a:t>Як визначати </a:t>
            </a:r>
            <a:r>
              <a:rPr lang="uk-UA" b="1" i="1" dirty="0"/>
              <a:t>прецеденти</a:t>
            </a:r>
            <a:r>
              <a:rPr lang="en-US" b="1" i="1" dirty="0"/>
              <a:t>?</a:t>
            </a:r>
            <a:r>
              <a:rPr lang="uk-UA" dirty="0"/>
              <a:t> Стосовно кожного актора слід розглянути </a:t>
            </a:r>
            <a:r>
              <a:rPr lang="uk-UA" b="1" i="1" dirty="0"/>
              <a:t>типові</a:t>
            </a:r>
            <a:r>
              <a:rPr lang="uk-UA" dirty="0"/>
              <a:t> (</a:t>
            </a:r>
            <a:r>
              <a:rPr lang="uk-UA" b="1" i="1" dirty="0"/>
              <a:t>узагальнюючі</a:t>
            </a:r>
            <a:r>
              <a:rPr lang="uk-UA" dirty="0"/>
              <a:t>) варіанти сервісів (функцій), які мають підтримуватись системою і якими може скористатись діяч. </a:t>
            </a:r>
          </a:p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dirty="0"/>
              <a:t>Кожному виділеному сервісу відповідає </a:t>
            </a:r>
            <a:r>
              <a:rPr lang="uk-UA" b="1" i="1" dirty="0"/>
              <a:t>прецедент. </a:t>
            </a:r>
          </a:p>
          <a:p>
            <a:pPr marL="0" indent="381000" algn="just">
              <a:buFontTx/>
              <a:buNone/>
            </a:pPr>
            <a:r>
              <a:rPr lang="uk-UA" dirty="0"/>
              <a:t>Прецеденти </a:t>
            </a:r>
            <a:r>
              <a:rPr lang="uk-UA" dirty="0" err="1"/>
              <a:t>формулюються</a:t>
            </a:r>
            <a:r>
              <a:rPr lang="uk-UA" dirty="0"/>
              <a:t> в момент </a:t>
            </a:r>
            <a:r>
              <a:rPr lang="uk-UA" b="1" i="1" dirty="0"/>
              <a:t>моделювання вимог</a:t>
            </a:r>
            <a:r>
              <a:rPr lang="uk-UA" dirty="0"/>
              <a:t> до системи.</a:t>
            </a:r>
            <a:endParaRPr lang="uk-UA" b="1" i="1" dirty="0"/>
          </a:p>
          <a:p>
            <a:pPr marL="0" indent="381000" algn="just">
              <a:buFontTx/>
              <a:buNone/>
            </a:pPr>
            <a:r>
              <a:rPr lang="uk-UA" dirty="0"/>
              <a:t>Прецеденти специфікують </a:t>
            </a:r>
            <a:r>
              <a:rPr lang="uk-UA" b="1" i="1" dirty="0"/>
              <a:t>поведінку</a:t>
            </a:r>
            <a:r>
              <a:rPr lang="uk-UA" dirty="0"/>
              <a:t> розроблюваної системи (</a:t>
            </a:r>
            <a:r>
              <a:rPr lang="uk-UA" b="1" i="1" dirty="0">
                <a:solidFill>
                  <a:srgbClr val="FF0000"/>
                </a:solidFill>
              </a:rPr>
              <a:t>що має робити система</a:t>
            </a:r>
            <a:r>
              <a:rPr lang="uk-UA" dirty="0"/>
              <a:t>), </a:t>
            </a:r>
            <a:r>
              <a:rPr lang="uk-UA" b="1" i="1" dirty="0"/>
              <a:t>не визначаючи реалізацію</a:t>
            </a:r>
            <a:r>
              <a:rPr lang="uk-UA" dirty="0"/>
              <a:t> цієї системи (</a:t>
            </a:r>
            <a:r>
              <a:rPr lang="uk-UA" b="1" i="1" dirty="0">
                <a:solidFill>
                  <a:srgbClr val="FF0000"/>
                </a:solidFill>
              </a:rPr>
              <a:t>яким чином вона це має робити</a:t>
            </a:r>
            <a:r>
              <a:rPr lang="uk-UA" dirty="0"/>
              <a:t>). </a:t>
            </a:r>
            <a:r>
              <a:rPr lang="uk-UA" i="1" dirty="0"/>
              <a:t>Вони дозволяють досягти взаєморозуміння між розроблювачами, замовниками, експертами і кінцевими користувачами</a:t>
            </a:r>
            <a:r>
              <a:rPr lang="uk-UA" dirty="0"/>
              <a:t>. Крім того, прецеденти допомагають перевіряти й контролювати архітектуру системи у процесі її розробки.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453586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Прецеденти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b="1" i="1" dirty="0"/>
              <a:t>У діаграмах прецедент </a:t>
            </a:r>
            <a:r>
              <a:rPr lang="uk-UA" dirty="0"/>
              <a:t>зображується </a:t>
            </a:r>
            <a:r>
              <a:rPr lang="uk-UA" b="1" i="1" dirty="0"/>
              <a:t>еліпсом</a:t>
            </a:r>
            <a:r>
              <a:rPr lang="uk-UA" dirty="0"/>
              <a:t>.</a:t>
            </a:r>
          </a:p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dirty="0"/>
              <a:t>Як правило, для іменування прецедентів використовуються дієслова чи короткі дієслівні фрази (“Створення таблиці”, “Створити таблицю”).</a:t>
            </a:r>
          </a:p>
          <a:p>
            <a:endParaRPr lang="uk-UA" dirty="0"/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7890107"/>
              </p:ext>
            </p:extLst>
          </p:nvPr>
        </p:nvGraphicFramePr>
        <p:xfrm>
          <a:off x="3908868" y="3709792"/>
          <a:ext cx="2133600" cy="1416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Точечный рисунок" r:id="rId3" imgW="1695687" imgH="1123810" progId="Paint.Picture">
                  <p:embed/>
                </p:oleObj>
              </mc:Choice>
              <mc:Fallback>
                <p:oleObj name="Точечный рисунок" r:id="rId3" imgW="1695687" imgH="1123810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868" y="3709792"/>
                        <a:ext cx="2133600" cy="1416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1356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Зв'язки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1722179"/>
            <a:ext cx="8596668" cy="1872792"/>
          </a:xfrm>
        </p:spPr>
        <p:txBody>
          <a:bodyPr/>
          <a:lstStyle/>
          <a:p>
            <a:pPr marL="0" indent="381000" algn="just">
              <a:lnSpc>
                <a:spcPct val="110000"/>
              </a:lnSpc>
              <a:buFontTx/>
              <a:buNone/>
            </a:pPr>
            <a:r>
              <a:rPr lang="uk-UA" b="1" i="1" dirty="0"/>
              <a:t>Зв'язки</a:t>
            </a:r>
            <a:r>
              <a:rPr lang="uk-UA" dirty="0"/>
              <a:t> між акторами та прецедентами (</a:t>
            </a:r>
            <a:r>
              <a:rPr lang="uk-UA" b="1" i="1" dirty="0"/>
              <a:t>комунікації</a:t>
            </a:r>
            <a:r>
              <a:rPr lang="uk-UA" dirty="0"/>
              <a:t>) на діаграмах прецедентів представляються </a:t>
            </a:r>
            <a:r>
              <a:rPr lang="uk-UA" b="1" i="1" dirty="0" err="1"/>
              <a:t>однонаправленими</a:t>
            </a:r>
            <a:r>
              <a:rPr lang="uk-UA" dirty="0"/>
              <a:t> </a:t>
            </a:r>
            <a:r>
              <a:rPr lang="uk-UA" b="1" i="1" dirty="0"/>
              <a:t>асоціаціями </a:t>
            </a:r>
            <a:r>
              <a:rPr lang="uk-UA" dirty="0"/>
              <a:t>(відповідний стереотип -</a:t>
            </a:r>
            <a:r>
              <a:rPr lang="uk-UA" b="1" i="1" dirty="0"/>
              <a:t> &lt;&lt;</a:t>
            </a:r>
            <a:r>
              <a:rPr lang="en-US" b="1" i="1" dirty="0"/>
              <a:t>communication&gt;&gt;</a:t>
            </a:r>
            <a:r>
              <a:rPr lang="uk-UA" dirty="0"/>
              <a:t>) і </a:t>
            </a:r>
            <a:r>
              <a:rPr lang="uk-UA" dirty="0" err="1"/>
              <a:t>зображаються</a:t>
            </a:r>
            <a:r>
              <a:rPr lang="uk-UA" dirty="0"/>
              <a:t> суцільною стрілкою у напрямку від “ініціатора зв'язку”. Це єдиний тип діаграмних відношень, які можливі між акторами та прецедентами, тому можна цей стереотип і не задавати. </a:t>
            </a:r>
          </a:p>
        </p:txBody>
      </p:sp>
      <p:graphicFrame>
        <p:nvGraphicFramePr>
          <p:cNvPr id="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842478"/>
              </p:ext>
            </p:extLst>
          </p:nvPr>
        </p:nvGraphicFramePr>
        <p:xfrm>
          <a:off x="1302707" y="3687375"/>
          <a:ext cx="2605414" cy="2265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6" name="Точечный рисунок" r:id="rId3" imgW="2257740" imgH="1961905" progId="Paint.Picture">
                  <p:embed/>
                </p:oleObj>
              </mc:Choice>
              <mc:Fallback>
                <p:oleObj name="Точечный рисунок" r:id="rId3" imgW="2257740" imgH="19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2707" y="3687375"/>
                        <a:ext cx="2605414" cy="2265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1301144"/>
              </p:ext>
            </p:extLst>
          </p:nvPr>
        </p:nvGraphicFramePr>
        <p:xfrm>
          <a:off x="4751111" y="3594971"/>
          <a:ext cx="3553644" cy="2720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7" name="Точечный рисунок" r:id="rId5" imgW="4466667" imgH="3419952" progId="Paint.Picture">
                  <p:embed/>
                </p:oleObj>
              </mc:Choice>
              <mc:Fallback>
                <p:oleObj name="Точечный рисунок" r:id="rId5" imgW="4466667" imgH="3419952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1111" y="3594971"/>
                        <a:ext cx="3553644" cy="27207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Прямокутник 5"/>
          <p:cNvSpPr/>
          <p:nvPr/>
        </p:nvSpPr>
        <p:spPr>
          <a:xfrm>
            <a:off x="5411244" y="3444658"/>
            <a:ext cx="2154477" cy="287107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8" name="Прямокутник 7"/>
          <p:cNvSpPr/>
          <p:nvPr/>
        </p:nvSpPr>
        <p:spPr>
          <a:xfrm>
            <a:off x="2175139" y="3690012"/>
            <a:ext cx="1606725" cy="226248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792060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Організація прецедентів. Відношення залежності</a:t>
            </a:r>
            <a:r>
              <a:rPr lang="uk-UA" i="1" dirty="0"/>
              <a:t> 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87026" y="2035328"/>
            <a:ext cx="8596668" cy="3880773"/>
          </a:xfrm>
        </p:spPr>
        <p:txBody>
          <a:bodyPr/>
          <a:lstStyle/>
          <a:p>
            <a:pPr marL="0" indent="381000" algn="just">
              <a:buFontTx/>
              <a:buNone/>
            </a:pPr>
            <a:r>
              <a:rPr lang="uk-UA" dirty="0"/>
              <a:t>Між прецедентами можуть існувати семантичні </a:t>
            </a:r>
            <a:r>
              <a:rPr lang="uk-UA" b="1" i="1" dirty="0"/>
              <a:t>залежності</a:t>
            </a:r>
            <a:r>
              <a:rPr lang="uk-UA" dirty="0"/>
              <a:t>, які доцільно представляти у діаграмах (для зображення </a:t>
            </a:r>
            <a:r>
              <a:rPr lang="uk-UA" b="1" i="1" dirty="0"/>
              <a:t>відношень </a:t>
            </a:r>
            <a:r>
              <a:rPr lang="uk-UA" b="1" i="1" dirty="0" err="1"/>
              <a:t>залежностей</a:t>
            </a:r>
            <a:r>
              <a:rPr lang="uk-UA" dirty="0"/>
              <a:t> використовуються </a:t>
            </a:r>
            <a:r>
              <a:rPr lang="uk-UA" b="1" i="1" dirty="0"/>
              <a:t>пунктирні стрілки</a:t>
            </a:r>
            <a:r>
              <a:rPr lang="uk-UA" dirty="0"/>
              <a:t>).</a:t>
            </a:r>
          </a:p>
          <a:p>
            <a:pPr marL="0" indent="381000" algn="just">
              <a:buFontTx/>
              <a:buNone/>
            </a:pPr>
            <a:r>
              <a:rPr lang="uk-UA" dirty="0"/>
              <a:t>Найважливішими випадками </a:t>
            </a:r>
            <a:r>
              <a:rPr lang="uk-UA" b="1" i="1" dirty="0"/>
              <a:t>відношень залежності</a:t>
            </a:r>
            <a:r>
              <a:rPr lang="uk-UA" dirty="0"/>
              <a:t> є відношення </a:t>
            </a:r>
            <a:r>
              <a:rPr lang="uk-UA" b="1" i="1" dirty="0"/>
              <a:t>включення</a:t>
            </a:r>
            <a:r>
              <a:rPr lang="uk-UA" dirty="0"/>
              <a:t> та </a:t>
            </a:r>
            <a:r>
              <a:rPr lang="uk-UA" b="1" i="1" dirty="0"/>
              <a:t>розширення</a:t>
            </a:r>
            <a:r>
              <a:rPr lang="uk-UA" b="1" dirty="0"/>
              <a:t>. </a:t>
            </a:r>
            <a:r>
              <a:rPr lang="uk-UA" dirty="0"/>
              <a:t>Вони мають важливе значення стосовно до, мабуть, найголовнішої стратегії у програмування - стратегії повторного використання коду. </a:t>
            </a:r>
          </a:p>
          <a:p>
            <a:endParaRPr lang="uk-UA" dirty="0"/>
          </a:p>
        </p:txBody>
      </p:sp>
      <p:graphicFrame>
        <p:nvGraphicFramePr>
          <p:cNvPr id="4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385631"/>
              </p:ext>
            </p:extLst>
          </p:nvPr>
        </p:nvGraphicFramePr>
        <p:xfrm>
          <a:off x="1289851" y="4020855"/>
          <a:ext cx="3695509" cy="21942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Точечный рисунок" r:id="rId3" imgW="3962953" imgH="2352381" progId="Paint.Picture">
                  <p:embed/>
                </p:oleObj>
              </mc:Choice>
              <mc:Fallback>
                <p:oleObj name="Точечный рисунок" r:id="rId3" imgW="3962953" imgH="23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9851" y="4020855"/>
                        <a:ext cx="3695509" cy="21942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7920812"/>
              </p:ext>
            </p:extLst>
          </p:nvPr>
        </p:nvGraphicFramePr>
        <p:xfrm>
          <a:off x="5588185" y="4228122"/>
          <a:ext cx="4037556" cy="146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Точечный рисунок" r:id="rId5" imgW="3258005" imgH="1181265" progId="Paint.Picture">
                  <p:embed/>
                </p:oleObj>
              </mc:Choice>
              <mc:Fallback>
                <p:oleObj name="Точечный рисунок" r:id="rId5" imgW="3258005" imgH="118126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8185" y="4228122"/>
                        <a:ext cx="4037556" cy="14640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66759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Відношення </a:t>
            </a:r>
            <a:r>
              <a:rPr lang="uk-UA" dirty="0"/>
              <a:t>включення (</a:t>
            </a:r>
            <a:r>
              <a:rPr lang="uk-UA" i="1" dirty="0" err="1"/>
              <a:t>include</a:t>
            </a:r>
            <a:r>
              <a:rPr lang="uk-UA" dirty="0"/>
              <a:t>)</a:t>
            </a:r>
            <a:r>
              <a:rPr lang="uk-UA" sz="4800" dirty="0"/>
              <a:t> 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lnSpcReduction="10000"/>
          </a:bodyPr>
          <a:lstStyle/>
          <a:p>
            <a:pPr marL="0" indent="381000" algn="just">
              <a:buFontTx/>
              <a:buNone/>
            </a:pPr>
            <a:r>
              <a:rPr lang="uk-UA" b="1" i="1" dirty="0"/>
              <a:t>Відношення включення</a:t>
            </a:r>
            <a:r>
              <a:rPr lang="uk-UA" dirty="0"/>
              <a:t> (</a:t>
            </a:r>
            <a:r>
              <a:rPr lang="uk-UA" b="1" i="1" dirty="0" err="1"/>
              <a:t>include</a:t>
            </a:r>
            <a:r>
              <a:rPr lang="uk-UA" dirty="0"/>
              <a:t>) між прецедентами означає, що в деякій “точці” базового прецеденту як складова частина використовується поведінка іншого прецеденту. Прецедент, що включається, ніколи не використовується </a:t>
            </a:r>
            <a:r>
              <a:rPr lang="uk-UA" dirty="0" err="1"/>
              <a:t>автономно</a:t>
            </a:r>
            <a:r>
              <a:rPr lang="uk-UA" dirty="0"/>
              <a:t> (з точки зору </a:t>
            </a:r>
            <a:r>
              <a:rPr lang="en-US" dirty="0"/>
              <a:t>UML </a:t>
            </a:r>
            <a:r>
              <a:rPr lang="uk-UA" dirty="0"/>
              <a:t>він розглядається як </a:t>
            </a:r>
            <a:r>
              <a:rPr lang="uk-UA" b="1" i="1" dirty="0"/>
              <a:t>абстрактний</a:t>
            </a:r>
            <a:r>
              <a:rPr lang="uk-UA" dirty="0"/>
              <a:t>, - див. специфікацію прецедентів в  </a:t>
            </a:r>
            <a:r>
              <a:rPr lang="en-US" i="1" dirty="0"/>
              <a:t>UML</a:t>
            </a:r>
            <a:r>
              <a:rPr lang="en-US" dirty="0"/>
              <a:t>, </a:t>
            </a:r>
            <a:r>
              <a:rPr lang="uk-UA" dirty="0"/>
              <a:t>а саме прапорець </a:t>
            </a:r>
            <a:r>
              <a:rPr lang="uk-UA" i="1" dirty="0" err="1"/>
              <a:t>Abstract</a:t>
            </a:r>
            <a:r>
              <a:rPr lang="uk-UA" dirty="0"/>
              <a:t>), він використовується тільки як частина більш загального прецеденту. </a:t>
            </a:r>
          </a:p>
          <a:p>
            <a:pPr marL="0" indent="381000" algn="just">
              <a:buFontTx/>
              <a:buNone/>
            </a:pPr>
            <a:r>
              <a:rPr lang="uk-UA" dirty="0"/>
              <a:t>Можна вважати, що один прецедент запозичає, використовує поведінку (функціональність) іншого прецеденту (того, що включаються, абстрактного). (Зауважимо, що імена абстрактних прецедентів </a:t>
            </a:r>
            <a:r>
              <a:rPr lang="uk-UA" dirty="0" err="1"/>
              <a:t>зображаються</a:t>
            </a:r>
            <a:r>
              <a:rPr lang="uk-UA" dirty="0"/>
              <a:t> курсивом).</a:t>
            </a:r>
          </a:p>
          <a:p>
            <a:pPr marL="0" indent="381000" algn="just">
              <a:buFontTx/>
              <a:buNone/>
            </a:pPr>
            <a:r>
              <a:rPr lang="uk-UA" dirty="0"/>
              <a:t>Завдяки наявності відношення</a:t>
            </a:r>
            <a:r>
              <a:rPr lang="uk-UA" b="1" i="1" dirty="0"/>
              <a:t> </a:t>
            </a:r>
            <a:r>
              <a:rPr lang="uk-UA" dirty="0"/>
              <a:t>включення вдається уникнути багаторазового опису потоків подій, оскільки спільну поведінку можна описати у вигляді самостійної поведінки, що включається в інші. (Зрозуміло, що це має безпосереднє відношення до стратегії </a:t>
            </a:r>
            <a:r>
              <a:rPr lang="uk-UA" b="1" i="1" dirty="0"/>
              <a:t>повторного використання коду</a:t>
            </a:r>
            <a:r>
              <a:rPr lang="uk-UA" dirty="0"/>
              <a:t>).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27441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1071126"/>
          </a:xfrm>
        </p:spPr>
        <p:txBody>
          <a:bodyPr/>
          <a:lstStyle/>
          <a:p>
            <a:r>
              <a:rPr lang="uk-UA" dirty="0"/>
              <a:t>На діаграмі прецедентів відношення включення зображують у вигляді </a:t>
            </a:r>
            <a:r>
              <a:rPr lang="uk-UA" b="1" i="1" dirty="0"/>
              <a:t>залежності</a:t>
            </a:r>
            <a:r>
              <a:rPr lang="uk-UA" dirty="0"/>
              <a:t> зі </a:t>
            </a:r>
            <a:r>
              <a:rPr lang="uk-UA" b="1" i="1" dirty="0"/>
              <a:t>стереотипом</a:t>
            </a:r>
            <a:r>
              <a:rPr lang="uk-UA" dirty="0"/>
              <a:t> </a:t>
            </a:r>
            <a:r>
              <a:rPr lang="uk-UA" b="1" i="1" dirty="0" err="1"/>
              <a:t>include</a:t>
            </a:r>
            <a:r>
              <a:rPr lang="uk-UA" dirty="0"/>
              <a:t> (пунктирна стрілка спрямована </a:t>
            </a:r>
            <a:r>
              <a:rPr lang="uk-UA" b="1" i="1" dirty="0"/>
              <a:t>від</a:t>
            </a:r>
            <a:r>
              <a:rPr lang="uk-UA" dirty="0"/>
              <a:t> базового прецеденту до того, що включається, абстрактного). </a:t>
            </a:r>
          </a:p>
          <a:p>
            <a:endParaRPr lang="uk-UA" dirty="0"/>
          </a:p>
        </p:txBody>
      </p:sp>
      <p:graphicFrame>
        <p:nvGraphicFramePr>
          <p:cNvPr id="4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671660"/>
              </p:ext>
            </p:extLst>
          </p:nvPr>
        </p:nvGraphicFramePr>
        <p:xfrm>
          <a:off x="2818356" y="3231716"/>
          <a:ext cx="5334000" cy="316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Точечный рисунок" r:id="rId3" imgW="3962953" imgH="2352381" progId="Paint.Picture">
                  <p:embed/>
                </p:oleObj>
              </mc:Choice>
              <mc:Fallback>
                <p:oleObj name="Точечный рисунок" r:id="rId3" imgW="3962953" imgH="235238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8356" y="3231716"/>
                        <a:ext cx="5334000" cy="316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21120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Відношення розширення (</a:t>
            </a:r>
            <a:r>
              <a:rPr lang="uk-UA" i="1" dirty="0" err="1"/>
              <a:t>extend</a:t>
            </a:r>
            <a:r>
              <a:rPr lang="uk-UA" dirty="0"/>
              <a:t>)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712035"/>
          </a:xfrm>
        </p:spPr>
        <p:txBody>
          <a:bodyPr>
            <a:normAutofit fontScale="92500"/>
          </a:bodyPr>
          <a:lstStyle/>
          <a:p>
            <a:pPr marL="0" indent="381000" algn="just">
              <a:buFontTx/>
              <a:buNone/>
            </a:pPr>
            <a:r>
              <a:rPr lang="uk-UA" b="1" i="1" dirty="0"/>
              <a:t>Відношення розширення (</a:t>
            </a:r>
            <a:r>
              <a:rPr lang="uk-UA" b="1" i="1" dirty="0" err="1"/>
              <a:t>extend</a:t>
            </a:r>
            <a:r>
              <a:rPr lang="uk-UA" b="1" i="1" dirty="0"/>
              <a:t>)</a:t>
            </a:r>
            <a:r>
              <a:rPr lang="uk-UA" dirty="0"/>
              <a:t> застосовують для моделювання таких частин прецеденту, які користувач сприймає як необов'язкову поведінку системи. Тим самим можна розділити обов'язкову й необов'язкову поведінку. Відношення розширення використовується </a:t>
            </a:r>
            <a:r>
              <a:rPr lang="uk-UA" dirty="0" smtClean="0"/>
              <a:t>для </a:t>
            </a:r>
            <a:r>
              <a:rPr lang="uk-UA" dirty="0"/>
              <a:t>моделювання </a:t>
            </a:r>
            <a:r>
              <a:rPr lang="uk-UA" dirty="0" smtClean="0"/>
              <a:t>прецедентів, </a:t>
            </a:r>
            <a:r>
              <a:rPr lang="uk-UA" dirty="0"/>
              <a:t>виконуваних тільки при певних обставинах.</a:t>
            </a:r>
          </a:p>
          <a:p>
            <a:pPr marL="0" indent="381000" algn="just">
              <a:buNone/>
            </a:pPr>
            <a:r>
              <a:rPr lang="uk-UA" dirty="0"/>
              <a:t>На діаграмі прецедентів відношення розширення зображують у вигляді </a:t>
            </a:r>
            <a:r>
              <a:rPr lang="uk-UA" b="1" i="1" dirty="0"/>
              <a:t>залежності</a:t>
            </a:r>
            <a:r>
              <a:rPr lang="uk-UA" dirty="0"/>
              <a:t> зі </a:t>
            </a:r>
            <a:r>
              <a:rPr lang="uk-UA" b="1" i="1" dirty="0"/>
              <a:t>стереотипом</a:t>
            </a:r>
            <a:r>
              <a:rPr lang="uk-UA" dirty="0"/>
              <a:t> </a:t>
            </a:r>
            <a:r>
              <a:rPr lang="uk-UA" b="1" i="1" dirty="0" err="1"/>
              <a:t>extend</a:t>
            </a:r>
            <a:r>
              <a:rPr lang="uk-UA" dirty="0"/>
              <a:t>. Пунктирна стрілка має бути спрямована </a:t>
            </a:r>
            <a:r>
              <a:rPr lang="uk-UA" b="1" i="1" dirty="0"/>
              <a:t>до</a:t>
            </a:r>
            <a:r>
              <a:rPr lang="uk-UA" dirty="0"/>
              <a:t> базового прецеденту (до прецеденту, який розширюється), </a:t>
            </a:r>
            <a:r>
              <a:rPr lang="uk-UA" b="1" i="1" dirty="0"/>
              <a:t>від</a:t>
            </a:r>
            <a:r>
              <a:rPr lang="uk-UA" dirty="0"/>
              <a:t> абстрактного (того, що розширює).</a:t>
            </a:r>
          </a:p>
          <a:p>
            <a:pPr marL="0" indent="381000" algn="just">
              <a:buFontTx/>
              <a:buNone/>
            </a:pPr>
            <a:r>
              <a:rPr lang="uk-UA" dirty="0" smtClean="0"/>
              <a:t>.</a:t>
            </a:r>
          </a:p>
          <a:p>
            <a:pPr marL="0" indent="381000" algn="just">
              <a:buFontTx/>
              <a:buNone/>
            </a:pPr>
            <a:endParaRPr lang="uk-UA" dirty="0">
              <a:latin typeface="Courier New" panose="02070309020205020404" pitchFamily="49" charset="0"/>
            </a:endParaRPr>
          </a:p>
          <a:p>
            <a:endParaRPr lang="uk-UA" dirty="0"/>
          </a:p>
        </p:txBody>
      </p:sp>
      <p:graphicFrame>
        <p:nvGraphicFramePr>
          <p:cNvPr id="4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916128"/>
              </p:ext>
            </p:extLst>
          </p:nvPr>
        </p:nvGraphicFramePr>
        <p:xfrm>
          <a:off x="2704578" y="4562243"/>
          <a:ext cx="4760934" cy="17263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Точечный рисунок" r:id="rId3" imgW="3258005" imgH="1181265" progId="Paint.Picture">
                  <p:embed/>
                </p:oleObj>
              </mc:Choice>
              <mc:Fallback>
                <p:oleObj name="Точечный рисунок" r:id="rId3" imgW="3258005" imgH="118126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4578" y="4562243"/>
                        <a:ext cx="4760934" cy="17263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9550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Відношення узагальнення</a:t>
            </a:r>
            <a:r>
              <a:rPr lang="uk-UA" i="1" dirty="0"/>
              <a:t> 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3880773"/>
          </a:xfrm>
        </p:spPr>
        <p:txBody>
          <a:bodyPr>
            <a:normAutofit fontScale="92500" lnSpcReduction="20000"/>
          </a:bodyPr>
          <a:lstStyle/>
          <a:p>
            <a:pPr marL="0" indent="381000" algn="just">
              <a:buFontTx/>
              <a:buNone/>
            </a:pPr>
            <a:r>
              <a:rPr lang="uk-UA" b="1" i="1" dirty="0"/>
              <a:t>Відношення узагальнення (</a:t>
            </a:r>
            <a:r>
              <a:rPr lang="uk-UA" b="1" i="1" dirty="0" err="1"/>
              <a:t>generalization</a:t>
            </a:r>
            <a:r>
              <a:rPr lang="uk-UA" b="1" i="1" dirty="0"/>
              <a:t>)</a:t>
            </a:r>
            <a:r>
              <a:rPr lang="uk-UA" dirty="0"/>
              <a:t> між </a:t>
            </a:r>
            <a:r>
              <a:rPr lang="uk-UA" b="1" i="1" dirty="0"/>
              <a:t>прецедентами</a:t>
            </a:r>
            <a:r>
              <a:rPr lang="uk-UA" dirty="0"/>
              <a:t> аналогічне відношенню узагальнення між класами в ООП і означає, що </a:t>
            </a:r>
          </a:p>
          <a:p>
            <a:pPr marL="0" indent="381000" algn="just"/>
            <a:r>
              <a:rPr lang="uk-UA" dirty="0"/>
              <a:t>прецедент-нащадок успадковує поведінку й семантику свого батька,</a:t>
            </a:r>
          </a:p>
          <a:p>
            <a:pPr marL="0" indent="381000" algn="just"/>
            <a:r>
              <a:rPr lang="uk-UA" dirty="0"/>
              <a:t>може заміщувати чи доповнювати його поведінку </a:t>
            </a:r>
          </a:p>
          <a:p>
            <a:pPr marL="0" indent="381000" algn="just"/>
            <a:r>
              <a:rPr lang="uk-UA" dirty="0"/>
              <a:t>може бути підставлений усюди, де з'являється його батько.</a:t>
            </a:r>
          </a:p>
          <a:p>
            <a:pPr marL="0" indent="381000" algn="just">
              <a:buFontTx/>
              <a:buNone/>
            </a:pPr>
            <a:r>
              <a:rPr lang="uk-UA" dirty="0"/>
              <a:t> Відношення узагальнення між прецедентами зображуються у вигляді лінії з не зафарбованою стрілкою (так само на діаграмах зображуються узагальнення між класами, діячами).</a:t>
            </a:r>
          </a:p>
          <a:p>
            <a:pPr marL="0" indent="381000" algn="just">
              <a:buFontTx/>
              <a:buNone/>
            </a:pPr>
            <a:r>
              <a:rPr lang="uk-UA" dirty="0"/>
              <a:t>Відношення </a:t>
            </a:r>
            <a:r>
              <a:rPr lang="uk-UA" b="1" i="1" dirty="0"/>
              <a:t>узагальнення</a:t>
            </a:r>
            <a:r>
              <a:rPr lang="uk-UA" dirty="0"/>
              <a:t> можуть застосовуватись і між акторами. Це, можливо, більш звично. </a:t>
            </a:r>
          </a:p>
          <a:p>
            <a:pPr marL="0" indent="381000" algn="just">
              <a:buFontTx/>
              <a:buNone/>
            </a:pPr>
            <a:r>
              <a:rPr lang="uk-UA" b="1" i="1" dirty="0"/>
              <a:t>Узагальнення</a:t>
            </a:r>
            <a:r>
              <a:rPr lang="uk-UA" dirty="0"/>
              <a:t> - це єдиний тип відношень, який може задаватись між </a:t>
            </a:r>
            <a:r>
              <a:rPr lang="uk-UA" b="1" i="1" dirty="0"/>
              <a:t>акторами</a:t>
            </a:r>
            <a:r>
              <a:rPr lang="uk-UA" dirty="0"/>
              <a:t>. (Можна, наприклад, визначати загальні типи акторів, а потім спеціалізувати їх, створюючи різновиди.) 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59016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4808" y="647178"/>
            <a:ext cx="8596668" cy="1320800"/>
          </a:xfrm>
        </p:spPr>
        <p:txBody>
          <a:bodyPr/>
          <a:lstStyle/>
          <a:p>
            <a:r>
              <a:rPr lang="uk-UA" dirty="0" smtClean="0"/>
              <a:t>Узагальнення акторів </a:t>
            </a:r>
            <a:r>
              <a:rPr lang="uk-UA" dirty="0"/>
              <a:t>та </a:t>
            </a:r>
            <a:r>
              <a:rPr lang="uk-UA" dirty="0" smtClean="0"/>
              <a:t>прецедентів</a:t>
            </a:r>
            <a:endParaRPr lang="uk-UA" dirty="0"/>
          </a:p>
        </p:txBody>
      </p:sp>
      <p:graphicFrame>
        <p:nvGraphicFramePr>
          <p:cNvPr id="4" name="Object 6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495439"/>
              </p:ext>
            </p:extLst>
          </p:nvPr>
        </p:nvGraphicFramePr>
        <p:xfrm>
          <a:off x="1002082" y="2121068"/>
          <a:ext cx="7262345" cy="4736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Точечный рисунок" r:id="rId3" imgW="4847619" imgH="3161905" progId="Paint.Picture">
                  <p:embed/>
                </p:oleObj>
              </mc:Choice>
              <mc:Fallback>
                <p:oleObj name="Точечный рисунок" r:id="rId3" imgW="4847619" imgH="3161905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2082" y="2121068"/>
                        <a:ext cx="7262345" cy="4736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126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Грань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Настроювані 3">
      <a:majorFont>
        <a:latin typeface="Century Gothic"/>
        <a:ea typeface=""/>
        <a:cs typeface=""/>
      </a:majorFont>
      <a:minorFont>
        <a:latin typeface="Franklin Gothic Book"/>
        <a:ea typeface=""/>
        <a:cs typeface=""/>
      </a:minorFont>
    </a:fontScheme>
    <a:fmtScheme name="Грань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2098</TotalTime>
  <Words>1965</Words>
  <Application>Microsoft Office PowerPoint</Application>
  <PresentationFormat>Широкий екран</PresentationFormat>
  <Paragraphs>129</Paragraphs>
  <Slides>27</Slides>
  <Notes>0</Notes>
  <HiddenSlides>0</HiddenSlides>
  <MMClips>0</MMClips>
  <ScaleCrop>false</ScaleCrop>
  <HeadingPairs>
    <vt:vector size="8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Вбудовані сервери OLE</vt:lpstr>
      </vt:variant>
      <vt:variant>
        <vt:i4>1</vt:i4>
      </vt:variant>
      <vt:variant>
        <vt:lpstr>Заголовки слайдів</vt:lpstr>
      </vt:variant>
      <vt:variant>
        <vt:i4>27</vt:i4>
      </vt:variant>
    </vt:vector>
  </HeadingPairs>
  <TitlesOfParts>
    <vt:vector size="36" baseType="lpstr">
      <vt:lpstr>Arial</vt:lpstr>
      <vt:lpstr>Century Gothic</vt:lpstr>
      <vt:lpstr>Courier New</vt:lpstr>
      <vt:lpstr>Franklin Gothic Book</vt:lpstr>
      <vt:lpstr>Symbol</vt:lpstr>
      <vt:lpstr>Times New Roman</vt:lpstr>
      <vt:lpstr>Wingdings 3</vt:lpstr>
      <vt:lpstr>Грань</vt:lpstr>
      <vt:lpstr>Точечный рисунок</vt:lpstr>
      <vt:lpstr>Уніфікована мова моделювання UML </vt:lpstr>
      <vt:lpstr>Передумови виникнення UML</vt:lpstr>
      <vt:lpstr>Виникнення UML</vt:lpstr>
      <vt:lpstr>Виникнення UML</vt:lpstr>
      <vt:lpstr>Object  Management  Group</vt:lpstr>
      <vt:lpstr>Призначення UML</vt:lpstr>
      <vt:lpstr>Підходи до моделювання</vt:lpstr>
      <vt:lpstr>Статичні та динамічні моделі</vt:lpstr>
      <vt:lpstr>Діаграми UML</vt:lpstr>
      <vt:lpstr>Структурні діаграми </vt:lpstr>
      <vt:lpstr>Поведінкові діаграми</vt:lpstr>
      <vt:lpstr>Діаграми UML: діаграми структури та діаграми поведінки</vt:lpstr>
      <vt:lpstr>Діаграма варіантів використання Use Case</vt:lpstr>
      <vt:lpstr>Види діаграм UML.  Коротка характеристика</vt:lpstr>
      <vt:lpstr>Види діаграм UML.  Коротка характеристика</vt:lpstr>
      <vt:lpstr>Стратегія використання  UML-діаграм</vt:lpstr>
      <vt:lpstr>Цілі застосування</vt:lpstr>
      <vt:lpstr>Актор</vt:lpstr>
      <vt:lpstr>Варіанти використання, прецеденти (usе саsе). Моделювання вимог до системи</vt:lpstr>
      <vt:lpstr>Прецеденти</vt:lpstr>
      <vt:lpstr>Зв'язки</vt:lpstr>
      <vt:lpstr>Організація прецедентів. Відношення залежності </vt:lpstr>
      <vt:lpstr>Відношення включення (include) </vt:lpstr>
      <vt:lpstr>Презентація PowerPoint</vt:lpstr>
      <vt:lpstr>Відношення розширення (extend)</vt:lpstr>
      <vt:lpstr>Відношення узагальнення </vt:lpstr>
      <vt:lpstr>Узагальнення акторів та прецедентів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User</dc:creator>
  <cp:lastModifiedBy>User</cp:lastModifiedBy>
  <cp:revision>95</cp:revision>
  <dcterms:created xsi:type="dcterms:W3CDTF">2022-02-06T13:04:47Z</dcterms:created>
  <dcterms:modified xsi:type="dcterms:W3CDTF">2023-03-08T13:12:57Z</dcterms:modified>
</cp:coreProperties>
</file>